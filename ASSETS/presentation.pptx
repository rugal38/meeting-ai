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5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840480" cy="50703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200400"/>
            <a:ext cx="2926080" cy="2926080"/>
          </a:xfrm>
          <a:prstGeom prst="ellipse">
            <a:avLst/>
          </a:prstGeom>
          <a:solidFill>
            <a:srgbClr val="0D4F7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82296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005840"/>
            <a:ext cx="228600" cy="228600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82880" y="2651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02C39A"/>
                </a:solidFill>
              </a:rPr>
              <a:t>ASSISTANT 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3063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DE RÉUNIONS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0" y="1005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7E0"/>
                </a:solidFill>
              </a:rPr>
              <a:t>Transcription automatique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7E0"/>
                </a:solidFill>
              </a:rPr>
              <a:t>Résumé intelligent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7E0"/>
                </a:solidFill>
              </a:rPr>
              <a:t>Points clés &amp; Conclusions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457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2C39A"/>
                </a:solidFill>
              </a:rPr>
              <a:t>Projet académique — MVP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Assistant IA de Réunions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114800" y="3429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7E0"/>
                </a:solidFill>
              </a:rPr>
              <a:t>Traitement automatisé d'enregistrements de réunions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C7E0"/>
                </a:solidFill>
              </a:rPr>
              <a:t>par intelligence artificielle — FR / 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4389120"/>
            <a:ext cx="109728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React  ·  Spring Boot  ·  Python FastAPI  ·  PostgreSQL</a:t>
            </a:r>
            <a:endParaRPr lang="en-US" sz="10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CB30DB4-3AD0-836F-4C12-31A411489201}"/>
              </a:ext>
            </a:extLst>
          </p:cNvPr>
          <p:cNvSpPr txBox="1"/>
          <p:nvPr/>
        </p:nvSpPr>
        <p:spPr>
          <a:xfrm>
            <a:off x="914400" y="3544520"/>
            <a:ext cx="22061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solidFill>
                  <a:schemeClr val="bg1"/>
                </a:solidFill>
              </a:rPr>
              <a:t>Présentés par</a:t>
            </a:r>
            <a:endParaRPr lang="fr-FR" sz="1600" dirty="0">
              <a:solidFill>
                <a:schemeClr val="bg1"/>
              </a:solidFill>
            </a:endParaRPr>
          </a:p>
          <a:p>
            <a:r>
              <a:rPr lang="fr-FR" sz="1600" dirty="0">
                <a:solidFill>
                  <a:schemeClr val="bg1"/>
                </a:solidFill>
              </a:rPr>
              <a:t>ARFA Hanae</a:t>
            </a:r>
          </a:p>
          <a:p>
            <a:r>
              <a:rPr lang="fr-FR" sz="1600" dirty="0">
                <a:solidFill>
                  <a:schemeClr val="bg1"/>
                </a:solidFill>
              </a:rPr>
              <a:t>BENCHRAA Salaheddine</a:t>
            </a:r>
          </a:p>
          <a:p>
            <a:r>
              <a:rPr lang="fr-FR" sz="1600" dirty="0">
                <a:solidFill>
                  <a:schemeClr val="bg1"/>
                </a:solidFill>
              </a:rPr>
              <a:t>ER-RAMY Sabrine</a:t>
            </a:r>
          </a:p>
          <a:p>
            <a:r>
              <a:rPr lang="fr-FR" sz="1600" dirty="0">
                <a:solidFill>
                  <a:schemeClr val="bg1"/>
                </a:solidFill>
              </a:rPr>
              <a:t>MAIGA </a:t>
            </a:r>
            <a:r>
              <a:rPr lang="fr-FR" sz="1600" dirty="0" err="1">
                <a:solidFill>
                  <a:schemeClr val="bg1"/>
                </a:solidFill>
              </a:rPr>
              <a:t>Khadizatou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6DE5F00-EEDA-F79C-921A-9C90F7E41DD0}"/>
              </a:ext>
            </a:extLst>
          </p:cNvPr>
          <p:cNvSpPr txBox="1"/>
          <p:nvPr/>
        </p:nvSpPr>
        <p:spPr>
          <a:xfrm>
            <a:off x="6574971" y="4061683"/>
            <a:ext cx="2926080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fr-FR" sz="1600" u="sng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Encadrant</a:t>
            </a:r>
            <a:r>
              <a:rPr lang="fr-FR" sz="1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NFAOUI El Habib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Vision &amp; Objectifs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🎯  PROBLÈME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b="0">
                <a:solidFill>
                  <a:srgbClr val="111827"/>
                </a:solidFill>
                <a:latin typeface="Aptos"/>
              </a:rPr>
              <a:t>Les réunions produisent beaucoup d'informations, mais leur synthèse manuelle prend du temps.</a:t>
            </a:r>
          </a:p>
          <a:p>
            <a:endParaRPr sz="1400" b="0">
              <a:solidFill>
                <a:srgbClr val="111827"/>
              </a:solidFill>
              <a:latin typeface="Aptos"/>
            </a:endParaRP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Comptes-rendus longs à rédiger</a:t>
            </a: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Décisions et actions parfois perdues</a:t>
            </a: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Archives difficiles à exploiter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640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83480" y="1298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✅ 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400" b="0">
                <a:solidFill>
                  <a:srgbClr val="111827"/>
                </a:solidFill>
                <a:latin typeface="Aptos"/>
              </a:rPr>
              <a:t>L'application analyse automatiquement les réunions et génère :</a:t>
            </a:r>
          </a:p>
          <a:p>
            <a:endParaRPr sz="1400" b="0">
              <a:solidFill>
                <a:srgbClr val="111827"/>
              </a:solidFill>
              <a:latin typeface="Aptos"/>
            </a:endParaRP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Transcription</a:t>
            </a: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Résumé intelligent</a:t>
            </a: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Points clés</a:t>
            </a: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• Conclusions</a:t>
            </a:r>
          </a:p>
          <a:p>
            <a:endParaRPr sz="1400" b="0">
              <a:solidFill>
                <a:srgbClr val="111827"/>
              </a:solidFill>
              <a:latin typeface="Aptos"/>
            </a:endParaRPr>
          </a:p>
          <a:p>
            <a:r>
              <a:rPr sz="1400" b="0">
                <a:solidFill>
                  <a:srgbClr val="111827"/>
                </a:solidFill>
                <a:latin typeface="Aptos"/>
              </a:rPr>
              <a:t>Langues MVP : Français &amp; Anglais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 Technique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080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2C39A"/>
                </a:solidFill>
              </a:rPr>
              <a:t>3 blocs indépendants et communicants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560320" cy="35661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React.js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2782" y="1899844"/>
            <a:ext cx="2498997" cy="1779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8C7E0"/>
                </a:solidFill>
              </a:rPr>
              <a:t>Page de login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8C7E0"/>
                </a:solidFill>
              </a:rPr>
              <a:t>Upload de fichiers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8C7E0"/>
                </a:solidFill>
              </a:rPr>
              <a:t>Suivi du traitement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8C7E0"/>
                </a:solidFill>
              </a:rPr>
              <a:t>Affichage des résultats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A8C7E0"/>
                </a:solidFill>
              </a:rPr>
              <a:t>Historique des réunions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772668"/>
            <a:ext cx="36576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03286" y="2481939"/>
            <a:ext cx="67273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</a:rPr>
              <a:t>REST/JWT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1178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560320" cy="35661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91840" y="114300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83280" y="1207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BACKEND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Spring Boot + PostgreSQL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7677" y="1966395"/>
            <a:ext cx="2530203" cy="15232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b="0" dirty="0">
                <a:solidFill>
                  <a:srgbClr val="FFFFFF"/>
                </a:solidFill>
                <a:latin typeface="Aptos"/>
              </a:rPr>
              <a:t>API REST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sécurisée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(JWT)</a:t>
            </a:r>
          </a:p>
          <a:p>
            <a:r>
              <a:rPr sz="1600" b="0" dirty="0">
                <a:solidFill>
                  <a:srgbClr val="FFFFFF"/>
                </a:solidFill>
                <a:latin typeface="Aptos"/>
              </a:rPr>
              <a:t>Gestion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utilisateurs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&amp;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réunions</a:t>
            </a:r>
            <a:endParaRPr sz="1600" b="0" dirty="0">
              <a:solidFill>
                <a:srgbClr val="FFFFFF"/>
              </a:solidFill>
              <a:latin typeface="Aptos"/>
            </a:endParaRPr>
          </a:p>
          <a:p>
            <a:r>
              <a:rPr sz="1600" b="0" dirty="0">
                <a:solidFill>
                  <a:srgbClr val="FFFFFF"/>
                </a:solidFill>
                <a:latin typeface="Aptos"/>
              </a:rPr>
              <a:t>Stockage local des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fichiers</a:t>
            </a:r>
            <a:endParaRPr sz="1600" b="0" dirty="0">
              <a:solidFill>
                <a:srgbClr val="FFFFFF"/>
              </a:solidFill>
              <a:latin typeface="Aptos"/>
            </a:endParaRPr>
          </a:p>
          <a:p>
            <a:r>
              <a:rPr sz="1600" b="0" dirty="0" err="1">
                <a:solidFill>
                  <a:srgbClr val="FFFFFF"/>
                </a:solidFill>
                <a:latin typeface="Aptos"/>
              </a:rPr>
              <a:t>Suivi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des jobs par polling</a:t>
            </a:r>
          </a:p>
        </p:txBody>
      </p:sp>
      <p:sp>
        <p:nvSpPr>
          <p:cNvPr id="18" name="Text 16"/>
          <p:cNvSpPr/>
          <p:nvPr/>
        </p:nvSpPr>
        <p:spPr>
          <a:xfrm>
            <a:off x="587502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29300" y="25054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</a:rPr>
              <a:t>HTTP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55080" y="1143000"/>
            <a:ext cx="2560320" cy="3566160"/>
          </a:xfrm>
          <a:prstGeom prst="rect">
            <a:avLst/>
          </a:prstGeom>
          <a:solidFill>
            <a:srgbClr val="112233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2560320" cy="457200"/>
          </a:xfrm>
          <a:prstGeom prst="rect">
            <a:avLst/>
          </a:prstGeom>
          <a:solidFill>
            <a:srgbClr val="1A6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46520" y="1207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 SERVICE 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1737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Python + FastAPI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2012623"/>
            <a:ext cx="2628174" cy="1973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600" b="0" dirty="0">
                <a:solidFill>
                  <a:srgbClr val="FFFFFF"/>
                </a:solidFill>
                <a:latin typeface="Aptos"/>
              </a:rPr>
              <a:t>Faster-Whisper (transcription)</a:t>
            </a:r>
          </a:p>
          <a:p>
            <a:r>
              <a:rPr sz="1600" b="0" dirty="0">
                <a:solidFill>
                  <a:srgbClr val="FFFFFF"/>
                </a:solidFill>
                <a:latin typeface="Aptos"/>
              </a:rPr>
              <a:t>Mistral-7B 4-bit (résumé)</a:t>
            </a:r>
          </a:p>
          <a:p>
            <a:r>
              <a:rPr sz="1600" b="0" dirty="0" err="1">
                <a:solidFill>
                  <a:srgbClr val="FFFFFF"/>
                </a:solidFill>
                <a:latin typeface="Aptos"/>
              </a:rPr>
              <a:t>FFmpeg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(extraction audio)</a:t>
            </a:r>
          </a:p>
          <a:p>
            <a:r>
              <a:rPr sz="1600" b="0" dirty="0" err="1">
                <a:solidFill>
                  <a:srgbClr val="FFFFFF"/>
                </a:solidFill>
                <a:latin typeface="Aptos"/>
              </a:rPr>
              <a:t>BackgroundTasks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ptos"/>
              </a:rPr>
              <a:t>ou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Celery + Redis</a:t>
            </a:r>
          </a:p>
          <a:p>
            <a:r>
              <a:rPr sz="1600" b="0" dirty="0">
                <a:solidFill>
                  <a:srgbClr val="FFFFFF"/>
                </a:solidFill>
                <a:latin typeface="Aptos"/>
              </a:rPr>
              <a:t>GPU: RTX 3070 (CUDA)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IA — Traitement d'une Réunion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1887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Type MIME, taille &lt; 500MB, durée &lt; 3h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448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54480" y="1143000"/>
            <a:ext cx="11887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🎵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1848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FFmpeg → WAV mono 16kHz (si vidéo)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3464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1143000"/>
            <a:ext cx="11887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88036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Transcription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9864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Faster-Whisper CUDA int8 + détection langue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1143000"/>
            <a:ext cx="11887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✂️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16052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Chunking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7880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Découpage si &gt; 3000 tokens (overlap 200)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9496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94960" y="1143000"/>
            <a:ext cx="11887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39496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44068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Résumé LLM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Mistral-7B 4-bit — map-reduce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7512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675120" y="1143000"/>
            <a:ext cx="118872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7512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72084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Analyse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3912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Points clés + Conclusions extraits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63840" y="26060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955280" y="1143000"/>
            <a:ext cx="11887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955280" y="1143000"/>
            <a:ext cx="1188720" cy="4114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8" name="Text 46"/>
          <p:cNvSpPr/>
          <p:nvPr/>
        </p:nvSpPr>
        <p:spPr>
          <a:xfrm>
            <a:off x="795528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955280" y="16002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8001000" y="23317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Retour JSON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19288" y="2880360"/>
            <a:ext cx="10607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Résultats envoyés au backend</a:t>
            </a:r>
            <a:endParaRPr lang="en-US" sz="900" dirty="0"/>
          </a:p>
        </p:txBody>
      </p:sp>
      <p:sp>
        <p:nvSpPr>
          <p:cNvPr id="52" name="Rounded Rectangle 51"/>
          <p:cNvSpPr/>
          <p:nvPr/>
        </p:nvSpPr>
        <p:spPr>
          <a:xfrm>
            <a:off x="502920" y="4416552"/>
            <a:ext cx="8138160" cy="420624"/>
          </a:xfrm>
          <a:prstGeom prst="round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" y="4489704"/>
            <a:ext cx="7726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Suivi du traitement : EN_ATTENTE  →  EN_COURS  →  TERMINE  /  ERREUR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Stack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099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Interface utilisateur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188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23160" y="1207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🍃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7099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Spring Boot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Backend + API REST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097280"/>
            <a:ext cx="1920240" cy="1188720"/>
          </a:xfrm>
          <a:prstGeom prst="rect">
            <a:avLst/>
          </a:prstGeom>
          <a:solidFill>
            <a:srgbClr val="1A6B4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80560" y="1207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17099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19933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Base de données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097280"/>
            <a:ext cx="2423160" cy="1188720"/>
          </a:xfrm>
          <a:prstGeom prst="rect">
            <a:avLst/>
          </a:prstGeom>
          <a:solidFill>
            <a:srgbClr val="6B3FA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37960" y="12070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1709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Sécurité &amp; sessions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423160"/>
            <a:ext cx="1920240" cy="118872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65760" y="2532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0358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Faster-Whisper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Transcription CUDA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2423160"/>
            <a:ext cx="1920240" cy="1188720"/>
          </a:xfrm>
          <a:prstGeom prst="rect">
            <a:avLst/>
          </a:prstGeom>
          <a:solidFill>
            <a:srgbClr val="9D174D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423160" y="2532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23160" y="30358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Mistral-7B 4-bit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LLM Résumé FR/EN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89120" y="2423160"/>
            <a:ext cx="1920240" cy="118872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480560" y="2532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80560" y="30358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3319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5F5"/>
                </a:solidFill>
              </a:rPr>
              <a:t>Service IA Python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2423160"/>
            <a:ext cx="2423160" cy="1188720"/>
          </a:xfrm>
          <a:prstGeom prst="rect">
            <a:avLst/>
          </a:prstGeom>
          <a:solidFill>
            <a:srgbClr val="374151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537960" y="25328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37960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Async Jobs</a:t>
            </a:r>
          </a:p>
        </p:txBody>
      </p:sp>
      <p:sp>
        <p:nvSpPr>
          <p:cNvPr id="35" name="Text 33"/>
          <p:cNvSpPr/>
          <p:nvPr/>
        </p:nvSpPr>
        <p:spPr>
          <a:xfrm>
            <a:off x="6537960" y="3319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BackgroundTasks / Celery</a:t>
            </a:r>
          </a:p>
        </p:txBody>
      </p:sp>
      <p:sp>
        <p:nvSpPr>
          <p:cNvPr id="36" name="Shape 34"/>
          <p:cNvSpPr/>
          <p:nvPr/>
        </p:nvSpPr>
        <p:spPr>
          <a:xfrm>
            <a:off x="274320" y="3749040"/>
            <a:ext cx="8595360" cy="105156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💻  Matériel cible : Lenovo Legion 5  |  RTX 3070 — 8 GB VRAM  |  Ryzen 7 5800H  |  16 GB RAM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7E0"/>
                </a:solidFill>
              </a:rPr>
              <a:t>Modèles quantifiés 4-bit · Whisper et Mistral ne chargent pas simultanément (gestion VRAM)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Périmètre du MVP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✅  INCLUS DANS LE MVP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3749040" cy="2382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Authentification simple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Import audio / vidéo / texte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Transcription automatique FR &amp; 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Détection de langue (FR / EN / mixed)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Résumé généré par LLM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Extraction points clés &amp; conclusions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Interface web de consultation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Historique des réunions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Traitement asynchrone (jobs)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🚫  HORS PÉRIMÈTRE MVP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749040" cy="1753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Darija marocaine (phase ultérieure)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Diarisation des locuteurs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Export PDF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Temps réel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Fine-tuning de modèles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Notifications complexes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Schéma de Base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85216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CFFAFE"/>
                </a:solidFill>
                <a:latin typeface="Aptos"/>
              </a:rPr>
              <a:t>Entités principales et relations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417320"/>
            <a:ext cx="2240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46120" y="1417320"/>
            <a:ext cx="22402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10712" y="158191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2C39A"/>
                </a:solidFill>
                <a:latin typeface="Aptos"/>
              </a:rPr>
              <a:t>REUNION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5284" y="1844621"/>
            <a:ext cx="187452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>
                <a:solidFill>
                  <a:srgbClr val="111827"/>
                </a:solidFill>
                <a:latin typeface="Aptos"/>
              </a:rPr>
              <a:t>id,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titre</a:t>
            </a:r>
            <a:r>
              <a:rPr sz="900" b="0" dirty="0">
                <a:solidFill>
                  <a:srgbClr val="111827"/>
                </a:solidFill>
                <a:latin typeface="Aptos"/>
              </a:rPr>
              <a:t>,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statut</a:t>
            </a:r>
            <a:endParaRPr sz="900" b="0" dirty="0">
              <a:solidFill>
                <a:srgbClr val="111827"/>
              </a:solidFill>
              <a:latin typeface="Aptos"/>
            </a:endParaRP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langue, durée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214884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490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C7293"/>
                </a:solidFill>
                <a:latin typeface="Aptos"/>
              </a:rPr>
              <a:t>UTILISATEUR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93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>
                <a:solidFill>
                  <a:srgbClr val="111827"/>
                </a:solidFill>
                <a:latin typeface="Aptos"/>
              </a:rPr>
              <a:t>email, mot de passe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hashé</a:t>
            </a:r>
            <a:endParaRPr sz="900" b="0" dirty="0">
              <a:solidFill>
                <a:srgbClr val="111827"/>
              </a:solidFill>
              <a:latin typeface="Aptos"/>
            </a:endParaRP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1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utilisateur</a:t>
            </a:r>
            <a:r>
              <a:rPr sz="900" b="0" dirty="0">
                <a:solidFill>
                  <a:srgbClr val="111827"/>
                </a:solidFill>
                <a:latin typeface="Aptos"/>
              </a:rPr>
              <a:t> → N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réunions</a:t>
            </a:r>
            <a:endParaRPr sz="900" b="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325880"/>
            <a:ext cx="2148840" cy="73152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4904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3FA0"/>
                </a:solidFill>
                <a:latin typeface="Aptos"/>
              </a:rPr>
              <a:t>FICHIER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373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>
                <a:solidFill>
                  <a:srgbClr val="111827"/>
                </a:solidFill>
                <a:latin typeface="Aptos"/>
              </a:rPr>
              <a:t>nom original, UUID</a:t>
            </a: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type MIME, taille, chemin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7180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71800"/>
            <a:ext cx="214884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1363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Aptos"/>
              </a:rPr>
              <a:t>JOB_TRAITEMENT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389231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 err="1">
                <a:solidFill>
                  <a:srgbClr val="111827"/>
                </a:solidFill>
                <a:latin typeface="Aptos"/>
              </a:rPr>
              <a:t>statut</a:t>
            </a:r>
            <a:r>
              <a:rPr sz="900" b="0" dirty="0">
                <a:solidFill>
                  <a:srgbClr val="111827"/>
                </a:solidFill>
                <a:latin typeface="Aptos"/>
              </a:rPr>
              <a:t>, date début/fin</a:t>
            </a: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message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d'erreur</a:t>
            </a:r>
            <a:endParaRPr sz="900" b="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46120" y="2971800"/>
            <a:ext cx="2240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46120" y="2971800"/>
            <a:ext cx="224028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10712" y="313639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C7293"/>
                </a:solidFill>
                <a:latin typeface="Aptos"/>
              </a:rPr>
              <a:t>TRANSCRIPTION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396996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 err="1">
                <a:solidFill>
                  <a:srgbClr val="111827"/>
                </a:solidFill>
                <a:latin typeface="Aptos"/>
              </a:rPr>
              <a:t>texte</a:t>
            </a:r>
            <a:r>
              <a:rPr sz="9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complet</a:t>
            </a:r>
            <a:endParaRPr sz="900" b="0" dirty="0">
              <a:solidFill>
                <a:srgbClr val="111827"/>
              </a:solidFill>
              <a:latin typeface="Aptos"/>
            </a:endParaRP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segments JSONB + timestamps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971800"/>
            <a:ext cx="2148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971800"/>
            <a:ext cx="2148840" cy="73152"/>
          </a:xfrm>
          <a:prstGeom prst="rect">
            <a:avLst/>
          </a:prstGeom>
          <a:solidFill>
            <a:srgbClr val="1A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A6B40"/>
                </a:solidFill>
                <a:latin typeface="Aptos"/>
              </a:rPr>
              <a:t>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34107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>
                <a:solidFill>
                  <a:srgbClr val="111827"/>
                </a:solidFill>
                <a:latin typeface="Aptos"/>
              </a:rPr>
              <a:t>résumé, points </a:t>
            </a:r>
            <a:r>
              <a:rPr sz="900" b="0" dirty="0" err="1">
                <a:solidFill>
                  <a:srgbClr val="111827"/>
                </a:solidFill>
                <a:latin typeface="Aptos"/>
              </a:rPr>
              <a:t>clés</a:t>
            </a:r>
            <a:endParaRPr sz="900" b="0" dirty="0">
              <a:solidFill>
                <a:srgbClr val="111827"/>
              </a:solidFill>
              <a:latin typeface="Aptos"/>
            </a:endParaRPr>
          </a:p>
          <a:p>
            <a:r>
              <a:rPr sz="900" b="0" dirty="0">
                <a:solidFill>
                  <a:srgbClr val="111827"/>
                </a:solidFill>
                <a:latin typeface="Aptos"/>
              </a:rPr>
              <a:t>conclusions JSONB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60320" y="1783080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86400" y="1783080"/>
            <a:ext cx="6858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834640" y="2148840"/>
            <a:ext cx="411480" cy="12801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370832" y="2286000"/>
            <a:ext cx="0" cy="6858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486400" y="2148840"/>
            <a:ext cx="685800" cy="12801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64748B"/>
                </a:solidFill>
                <a:latin typeface="Aptos"/>
              </a:rPr>
              <a:t>Choix recommandé : stocker les segments et listes en JSONB dans PostgreSQL pour garder la flexibilité.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API REST Principale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85216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CFFAFE"/>
                </a:solidFill>
                <a:latin typeface="Aptos"/>
              </a:rPr>
              <a:t>Endpoints nécessaires pour le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143000"/>
            <a:ext cx="2587751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7263" y="1143000"/>
            <a:ext cx="242316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075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7293"/>
                </a:solidFill>
                <a:latin typeface="Aptos"/>
              </a:rPr>
              <a:t>AUTHENTIFICATION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581912"/>
            <a:ext cx="22402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11827"/>
                </a:solidFill>
                <a:latin typeface="Aptos"/>
              </a:rPr>
              <a:t>POST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/auth/login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→ 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retourne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 un token JWT</a:t>
            </a:r>
          </a:p>
          <a:p>
            <a:endParaRPr sz="1600" b="0" dirty="0">
              <a:solidFill>
                <a:srgbClr val="111827"/>
              </a:solidFill>
              <a:latin typeface="Aptos"/>
            </a:endParaRP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POST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/auth/logout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→ 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invalide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 la session</a:t>
            </a:r>
          </a:p>
          <a:p>
            <a:endParaRPr sz="1600" b="0" dirty="0">
              <a:solidFill>
                <a:srgbClr val="111827"/>
              </a:solidFill>
              <a:latin typeface="Aptos"/>
            </a:endParaRPr>
          </a:p>
          <a:p>
            <a:r>
              <a:rPr sz="1600" b="0" dirty="0" err="1">
                <a:solidFill>
                  <a:srgbClr val="111827"/>
                </a:solidFill>
                <a:latin typeface="Aptos"/>
              </a:rPr>
              <a:t>Sécurité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 :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Authorization: Bearer &lt;token&gt;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143000"/>
            <a:ext cx="3352944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19" y="1143000"/>
            <a:ext cx="3334657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3075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2C39A"/>
                </a:solidFill>
                <a:latin typeface="Aptos"/>
              </a:rPr>
              <a:t>REUNIONS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3372" y="1678372"/>
            <a:ext cx="33346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11827"/>
                </a:solidFill>
                <a:latin typeface="Aptos"/>
              </a:rPr>
              <a:t>POST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/reunions/upload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GET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GET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/reunions/{id}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GET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/reunions/{id}/transcription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GET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/reunions/{id}/resume</a:t>
            </a:r>
          </a:p>
          <a:p>
            <a:r>
              <a:rPr sz="1600" b="0" dirty="0">
                <a:solidFill>
                  <a:srgbClr val="111827"/>
                </a:solidFill>
                <a:latin typeface="Aptos"/>
              </a:rPr>
              <a:t>DELETE /</a:t>
            </a:r>
            <a:r>
              <a:rPr sz="1600"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sz="1600" b="0" dirty="0">
                <a:solidFill>
                  <a:srgbClr val="111827"/>
                </a:solidFill>
                <a:latin typeface="Aptos"/>
              </a:rPr>
              <a:t>/reunions/{id}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6317" y="1143000"/>
            <a:ext cx="2256093" cy="3517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06318" y="1143000"/>
            <a:ext cx="2256092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70909" y="130759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45309"/>
                </a:solidFill>
                <a:latin typeface="Aptos"/>
              </a:rPr>
              <a:t>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0909" y="1598503"/>
            <a:ext cx="25523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rgbClr val="111827"/>
                </a:solidFill>
                <a:latin typeface="Aptos"/>
              </a:rPr>
              <a:t>GET /</a:t>
            </a:r>
            <a:r>
              <a:rPr b="0" dirty="0" err="1">
                <a:solidFill>
                  <a:srgbClr val="111827"/>
                </a:solidFill>
                <a:latin typeface="Aptos"/>
              </a:rPr>
              <a:t>api</a:t>
            </a:r>
            <a:r>
              <a:rPr b="0" dirty="0">
                <a:solidFill>
                  <a:srgbClr val="111827"/>
                </a:solidFill>
                <a:latin typeface="Aptos"/>
              </a:rPr>
              <a:t>/jobs/{id}</a:t>
            </a:r>
          </a:p>
          <a:p>
            <a:endParaRPr b="0" dirty="0">
              <a:solidFill>
                <a:srgbClr val="111827"/>
              </a:solidFill>
              <a:latin typeface="Aptos"/>
            </a:endParaRP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Retour :</a:t>
            </a: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• EN_ATTENTE</a:t>
            </a: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• EN_COURS</a:t>
            </a: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• TERMINE</a:t>
            </a: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• ERREUR</a:t>
            </a:r>
          </a:p>
          <a:p>
            <a:endParaRPr b="0" dirty="0">
              <a:solidFill>
                <a:srgbClr val="111827"/>
              </a:solidFill>
              <a:latin typeface="Aptos"/>
            </a:endParaRPr>
          </a:p>
          <a:p>
            <a:r>
              <a:rPr b="0" dirty="0">
                <a:solidFill>
                  <a:srgbClr val="111827"/>
                </a:solidFill>
                <a:latin typeface="Aptos"/>
              </a:rPr>
              <a:t>React fait un polling </a:t>
            </a:r>
            <a:r>
              <a:rPr b="0" dirty="0" err="1">
                <a:solidFill>
                  <a:srgbClr val="111827"/>
                </a:solidFill>
                <a:latin typeface="Aptos"/>
              </a:rPr>
              <a:t>toutes</a:t>
            </a:r>
            <a:r>
              <a:rPr b="0" dirty="0">
                <a:solidFill>
                  <a:srgbClr val="111827"/>
                </a:solidFill>
                <a:latin typeface="Aptos"/>
              </a:rPr>
              <a:t> les 3 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Choix Techniques Retenus pour le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85216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CFFAFE"/>
                </a:solidFill>
                <a:latin typeface="Aptos"/>
              </a:rPr>
              <a:t>Décisions à présenter clairement au jury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25146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075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C7293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62763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111827"/>
                </a:solidFill>
                <a:latin typeface="Aptos"/>
              </a:rPr>
              <a:t>Spring Boot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recommandé</a:t>
            </a:r>
            <a:endParaRPr sz="1000" b="0" dirty="0">
              <a:solidFill>
                <a:srgbClr val="111827"/>
              </a:solidFill>
              <a:latin typeface="Aptos"/>
            </a:endParaRPr>
          </a:p>
          <a:p>
            <a:r>
              <a:rPr sz="1000" b="0" dirty="0">
                <a:solidFill>
                  <a:srgbClr val="111827"/>
                </a:solidFill>
                <a:latin typeface="Aptos"/>
              </a:rPr>
              <a:t>JEE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seulement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si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exigé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académiquement</a:t>
            </a:r>
            <a:endParaRPr sz="1000" b="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37560" y="1143000"/>
            <a:ext cx="2514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7560" y="1143000"/>
            <a:ext cx="251460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30759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45309"/>
                </a:solidFill>
                <a:latin typeface="Aptos"/>
              </a:rPr>
              <a:t>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1581912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 err="1">
                <a:solidFill>
                  <a:srgbClr val="111827"/>
                </a:solidFill>
                <a:latin typeface="Aptos"/>
              </a:rPr>
              <a:t>BackgroundTasks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pour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démarrer</a:t>
            </a:r>
            <a:endParaRPr sz="1000" b="0" dirty="0">
              <a:solidFill>
                <a:srgbClr val="111827"/>
              </a:solidFill>
              <a:latin typeface="Aptos"/>
            </a:endParaRPr>
          </a:p>
          <a:p>
            <a:r>
              <a:rPr sz="1000" b="0" dirty="0">
                <a:solidFill>
                  <a:srgbClr val="111827"/>
                </a:solidFill>
                <a:latin typeface="Aptos"/>
              </a:rPr>
              <a:t>Celery + Redis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si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besoin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de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robustesse</a:t>
            </a:r>
            <a:endParaRPr sz="1000" b="0" dirty="0">
              <a:solidFill>
                <a:srgbClr val="11182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2011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2011680" cy="73152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1307592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3FA0"/>
                </a:solidFill>
                <a:latin typeface="Aptos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74655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111827"/>
                </a:solidFill>
                <a:latin typeface="Aptos"/>
              </a:rPr>
              <a:t>Mistral-7B 4-bit</a:t>
            </a:r>
          </a:p>
          <a:p>
            <a:r>
              <a:rPr sz="1000" b="0" dirty="0" err="1">
                <a:solidFill>
                  <a:srgbClr val="111827"/>
                </a:solidFill>
                <a:latin typeface="Aptos"/>
              </a:rPr>
              <a:t>meilleur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FR/EN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2788920"/>
            <a:ext cx="3337560" cy="73152"/>
          </a:xfrm>
          <a:prstGeom prst="rect">
            <a:avLst/>
          </a:prstGeom>
          <a:solidFill>
            <a:srgbClr val="1A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29535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6B40"/>
                </a:solidFill>
                <a:latin typeface="Aptos"/>
              </a:rPr>
              <a:t>Stockage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001" y="324612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827"/>
                </a:solidFill>
                <a:latin typeface="Aptos"/>
              </a:rPr>
              <a:t>Fichiers en local pour le MVP</a:t>
            </a:r>
          </a:p>
          <a:p>
            <a:r>
              <a:rPr sz="1000" b="0">
                <a:solidFill>
                  <a:srgbClr val="111827"/>
                </a:solidFill>
                <a:latin typeface="Aptos"/>
              </a:rPr>
              <a:t>UUID côté serveur + nom original en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78892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2788920"/>
            <a:ext cx="333756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82312" y="295351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2C39A"/>
                </a:solidFill>
                <a:latin typeface="Aptos"/>
              </a:rPr>
              <a:t>Textes &amp; Segments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2312" y="322783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dirty="0">
                <a:solidFill>
                  <a:srgbClr val="111827"/>
                </a:solidFill>
                <a:latin typeface="Aptos"/>
              </a:rPr>
              <a:t>Un seul pipeline pour audio/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vidéo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/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texte</a:t>
            </a:r>
            <a:endParaRPr sz="1000" b="0" dirty="0">
              <a:solidFill>
                <a:srgbClr val="111827"/>
              </a:solidFill>
              <a:latin typeface="Aptos"/>
            </a:endParaRPr>
          </a:p>
          <a:p>
            <a:r>
              <a:rPr sz="1000" b="0" dirty="0">
                <a:solidFill>
                  <a:srgbClr val="111827"/>
                </a:solidFill>
                <a:latin typeface="Aptos"/>
              </a:rPr>
              <a:t>Segments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stockés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000" b="0" dirty="0" err="1">
                <a:solidFill>
                  <a:srgbClr val="111827"/>
                </a:solidFill>
                <a:latin typeface="Aptos"/>
              </a:rPr>
              <a:t>en</a:t>
            </a:r>
            <a:r>
              <a:rPr sz="1000" b="0" dirty="0">
                <a:solidFill>
                  <a:srgbClr val="111827"/>
                </a:solidFill>
                <a:latin typeface="Aptos"/>
              </a:rPr>
              <a:t> JSONB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2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Plan de Développement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374904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C7293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788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Transcription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3474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Faster-Whisper + CUDA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Tests audio réels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Mesure qualité/vitesse</a:t>
            </a:r>
          </a:p>
        </p:txBody>
      </p:sp>
      <p:sp>
        <p:nvSpPr>
          <p:cNvPr id="12" name="Shape 10"/>
          <p:cNvSpPr/>
          <p:nvPr/>
        </p:nvSpPr>
        <p:spPr>
          <a:xfrm>
            <a:off x="2011680" y="1097280"/>
            <a:ext cx="1600200" cy="374904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011680" y="1097280"/>
            <a:ext cx="1600200" cy="54864"/>
          </a:xfrm>
          <a:prstGeom prst="rect">
            <a:avLst/>
          </a:prstGeom>
          <a:solidFill>
            <a:srgbClr val="1A6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514600" y="1234440"/>
            <a:ext cx="594360" cy="594360"/>
          </a:xfrm>
          <a:prstGeom prst="ellipse">
            <a:avLst/>
          </a:prstGeom>
          <a:solidFill>
            <a:srgbClr val="1A6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51460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1920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57400" y="2560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A6B40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2788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Résumé &amp; Analyse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474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Mistral-7B 4-bit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Chunking map-reduce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Tests sur transcriptions</a:t>
            </a:r>
          </a:p>
        </p:txBody>
      </p:sp>
      <p:sp>
        <p:nvSpPr>
          <p:cNvPr id="20" name="Shape 18"/>
          <p:cNvSpPr/>
          <p:nvPr/>
        </p:nvSpPr>
        <p:spPr>
          <a:xfrm>
            <a:off x="3749040" y="1097280"/>
            <a:ext cx="1600200" cy="374904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749040" y="1097280"/>
            <a:ext cx="160020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251960" y="1234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25196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749040" y="1920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94760" y="2560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5A82"/>
                </a:solidFill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2788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Complet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Async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22192" y="3474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Pipeline complet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Jobs asynchrones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Endpoints /process &amp; /jobs</a:t>
            </a:r>
          </a:p>
        </p:txBody>
      </p:sp>
      <p:sp>
        <p:nvSpPr>
          <p:cNvPr id="28" name="Shape 26"/>
          <p:cNvSpPr/>
          <p:nvPr/>
        </p:nvSpPr>
        <p:spPr>
          <a:xfrm>
            <a:off x="5486400" y="1097280"/>
            <a:ext cx="1600200" cy="374904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486400" y="1097280"/>
            <a:ext cx="1600200" cy="54864"/>
          </a:xfrm>
          <a:prstGeom prst="rect">
            <a:avLst/>
          </a:prstGeom>
          <a:solidFill>
            <a:srgbClr val="6B3F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989320" y="1234440"/>
            <a:ext cx="594360" cy="594360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98932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1920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32120" y="2560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B3FA0"/>
                </a:solidFill>
              </a:rPr>
              <a:t>PHASE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2788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Spring Boot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3474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Spring Boot + PostgreSQL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Entités JPA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Intégration FastAPI</a:t>
            </a:r>
          </a:p>
        </p:txBody>
      </p:sp>
      <p:sp>
        <p:nvSpPr>
          <p:cNvPr id="36" name="Shape 34"/>
          <p:cNvSpPr/>
          <p:nvPr/>
        </p:nvSpPr>
        <p:spPr>
          <a:xfrm>
            <a:off x="7223760" y="1097280"/>
            <a:ext cx="1600200" cy="374904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223760" y="1097280"/>
            <a:ext cx="160020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726680" y="1234440"/>
            <a:ext cx="594360" cy="59436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726680" y="125272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23760" y="192024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269480" y="25603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B45309"/>
                </a:solidFill>
              </a:rPr>
              <a:t>PHASE 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27889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React.js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96912" y="3474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Login / Upload / Historique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Polling statut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Affichage résultats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 assistant IA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concret et réaliste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700" b="0">
                <a:solidFill>
                  <a:srgbClr val="FFFFFF"/>
                </a:solidFill>
                <a:latin typeface="Aptos"/>
              </a:rPr>
              <a:t>Architecture modulaire : React / Spring Boot / Python</a:t>
            </a:r>
          </a:p>
          <a:p>
            <a:r>
              <a:rPr sz="1700" b="0">
                <a:solidFill>
                  <a:srgbClr val="FFFFFF"/>
                </a:solidFill>
                <a:latin typeface="Aptos"/>
              </a:rPr>
              <a:t>IA locale sur RTX 3070 : pas de cloud obligatoire</a:t>
            </a:r>
          </a:p>
          <a:p>
            <a:r>
              <a:rPr sz="1700" b="0">
                <a:solidFill>
                  <a:srgbClr val="FFFFFF"/>
                </a:solidFill>
                <a:latin typeface="Aptos"/>
              </a:rPr>
              <a:t>Développement par phases : IA d'abord, backend ensuite</a:t>
            </a:r>
          </a:p>
          <a:p>
            <a:r>
              <a:rPr sz="1700" b="0">
                <a:solidFill>
                  <a:srgbClr val="FFFFFF"/>
                </a:solidFill>
                <a:latin typeface="Aptos"/>
              </a:rPr>
              <a:t>Perspectives : Darija, diarisation, export PDF, temps réel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105156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FR + EN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E0"/>
                </a:solidFill>
              </a:rPr>
              <a:t>Langues supportées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560320" cy="105156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100%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E0"/>
                </a:solidFill>
              </a:rPr>
              <a:t>Traitement local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560320" cy="1051560"/>
          </a:xfrm>
          <a:prstGeom prst="rect">
            <a:avLst/>
          </a:prstGeom>
          <a:solidFill>
            <a:srgbClr val="0D1E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64008" cy="1051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4251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7E0"/>
                </a:solidFill>
              </a:rPr>
              <a:t>Phases de dev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2C39A"/>
                </a:solidFill>
              </a:rPr>
              <a:t>Merci pour votre attention — Questions ?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899</Words>
  <Application>Microsoft Office PowerPoint</Application>
  <PresentationFormat>Affichage à l'écran (16:9)</PresentationFormat>
  <Paragraphs>269</Paragraphs>
  <Slides>11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IA de Réunions</dc:title>
  <dc:subject>PptxGenJS Presentation</dc:subject>
  <dc:creator>PptxGenJS</dc:creator>
  <cp:lastModifiedBy>Hanae Arfa</cp:lastModifiedBy>
  <cp:revision>2</cp:revision>
  <dcterms:created xsi:type="dcterms:W3CDTF">2026-04-26T22:08:27Z</dcterms:created>
  <dcterms:modified xsi:type="dcterms:W3CDTF">2026-04-26T23:48:31Z</dcterms:modified>
</cp:coreProperties>
</file>