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MRR &amp; Pro User 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($)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</c:v>
                </c:pt>
                <c:pt idx="1">
                  <c:v>50</c:v>
                </c:pt>
                <c:pt idx="2">
                  <c:v>130</c:v>
                </c:pt>
                <c:pt idx="3">
                  <c:v>240</c:v>
                </c:pt>
                <c:pt idx="4">
                  <c:v>370</c:v>
                </c:pt>
                <c:pt idx="5">
                  <c:v>550</c:v>
                </c:pt>
                <c:pt idx="6">
                  <c:v>759</c:v>
                </c:pt>
                <c:pt idx="7">
                  <c:v>1019</c:v>
                </c:pt>
                <c:pt idx="8">
                  <c:v>1309</c:v>
                </c:pt>
                <c:pt idx="9">
                  <c:v>1659</c:v>
                </c:pt>
                <c:pt idx="10">
                  <c:v>2028</c:v>
                </c:pt>
                <c:pt idx="11">
                  <c:v>2458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 Users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5</c:v>
                </c:pt>
                <c:pt idx="2">
                  <c:v>10</c:v>
                </c:pt>
                <c:pt idx="3">
                  <c:v>18</c:v>
                </c:pt>
                <c:pt idx="4">
                  <c:v>28</c:v>
                </c:pt>
                <c:pt idx="5">
                  <c:v>40</c:v>
                </c:pt>
                <c:pt idx="6">
                  <c:v>55</c:v>
                </c:pt>
                <c:pt idx="7">
                  <c:v>72</c:v>
                </c:pt>
                <c:pt idx="8">
                  <c:v>92</c:v>
                </c:pt>
                <c:pt idx="9">
                  <c:v>115</c:v>
                </c:pt>
                <c:pt idx="10">
                  <c:v>140</c:v>
                </c:pt>
                <c:pt idx="11">
                  <c:v>168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6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-731520"/>
            <a:ext cx="3200400" cy="3200400"/>
          </a:xfrm>
          <a:prstGeom prst="ellipse">
            <a:avLst/>
          </a:prstGeom>
          <a:solidFill>
            <a:srgbClr val="2A2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2743200" cy="2743200"/>
          </a:xfrm>
          <a:prstGeom prst="ellipse">
            <a:avLst/>
          </a:prstGeom>
          <a:solidFill>
            <a:srgbClr val="1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FF"/>
                </a:solidFill>
                <a:latin typeface="Calibri"/>
              </a:rPr>
              <a:t>AI TRANSCRIPTION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FF"/>
                </a:solidFill>
                <a:latin typeface="Calibri"/>
              </a:rPr>
              <a:t>SAAS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202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Technical &amp;
Financial
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FF"/>
                </a:solidFill>
                <a:latin typeface="Calibri"/>
              </a:rPr>
              <a:t>Architecture · Stack · Costs · Projections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90CC"/>
                </a:solidFill>
                <a:latin typeface="Calibri"/>
              </a:rPr>
              <a:t>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90CC"/>
                </a:solidFill>
                <a:latin typeface="Calibri"/>
              </a:rPr>
              <a:t>STACK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051560"/>
            <a:ext cx="7223760" cy="62179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0881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FF"/>
                </a:solidFill>
                <a:latin typeface="Calibri"/>
              </a:rPr>
              <a:t>⚡ 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33502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01367"/>
            <a:ext cx="7223760" cy="62179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3794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FF"/>
                </a:solidFill>
                <a:latin typeface="Calibri"/>
              </a:rPr>
              <a:t>🔧 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84831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Python FastAPI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551176"/>
            <a:ext cx="7223760" cy="62179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587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FF"/>
                </a:solidFill>
                <a:latin typeface="Calibri"/>
              </a:rPr>
              <a:t>🤖  AI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346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Python (Whisper + LLM)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300984"/>
            <a:ext cx="7223760" cy="62179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FF"/>
                </a:solidFill>
                <a:latin typeface="Calibri"/>
              </a:rPr>
              <a:t>🎙️  Transcription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58444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Groq Whisper Large-v3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050791"/>
            <a:ext cx="7223760" cy="62179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087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FF"/>
                </a:solidFill>
                <a:latin typeface="Calibri"/>
              </a:rPr>
              <a:t>💬  Summarization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34255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Groq Llama 3.3 70B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800600"/>
            <a:ext cx="7223760" cy="62179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837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FF"/>
                </a:solidFill>
                <a:latin typeface="Calibri"/>
              </a:rPr>
              <a:t>💳  Billing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8406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Stripe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56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EFF"/>
                </a:solidFill>
                <a:latin typeface="Calibri"/>
              </a:rPr>
              <a:t>Three-service decoupled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4754880"/>
          </a:xfrm>
          <a:prstGeom prst="rect">
            <a:avLst/>
          </a:prstGeom>
          <a:solidFill>
            <a:srgbClr val="46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FF"/>
                </a:solidFill>
                <a:latin typeface="Calibri"/>
              </a:rPr>
              <a:t>User 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32918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9339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File Upload (Audio/Video/PDF)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4319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Job status polling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493007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Usage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24281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Billing &amp; plan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097280"/>
            <a:ext cx="3566160" cy="475488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20700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FF"/>
                </a:solidFill>
                <a:latin typeface="Calibri"/>
              </a:rPr>
              <a:t>Core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847088"/>
            <a:ext cx="32918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99339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Auth &amp; user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74319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Usage limit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493007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Job queue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24281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Stripe webhook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097280"/>
            <a:ext cx="3566160" cy="4754880"/>
          </a:xfrm>
          <a:prstGeom prst="rect">
            <a:avLst/>
          </a:prstGeom>
          <a:solidFill>
            <a:srgbClr val="065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20700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PYTHON AI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FF"/>
                </a:solidFill>
                <a:latin typeface="Calibri"/>
              </a:rPr>
              <a:t>Processing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1847088"/>
            <a:ext cx="32918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1993391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Groq Whisper transcription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74319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Llama 3.3 70B summarization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493007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ffmpeg video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424281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F6FF"/>
                </a:solidFill>
                <a:latin typeface="Calibri"/>
              </a:rPr>
              <a:t>▸  PDF text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46C8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46C8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EXTERNAL SERVICES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291072"/>
            <a:ext cx="265176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309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Groq API — Whisper + Llama 3.3 70B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6291072"/>
            <a:ext cx="2651760" cy="475488"/>
          </a:xfrm>
          <a:prstGeom prst="rect">
            <a:avLst/>
          </a:prstGeom>
          <a:solidFill>
            <a:srgbClr val="46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6309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Stripe — Billing &amp; subscriptions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6291072"/>
            <a:ext cx="265176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6309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ffmpeg — Video audio extraction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6291072"/>
            <a:ext cx="2651760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6309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pdfplumber — PDF text extraction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Stack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FF"/>
                </a:solidFill>
                <a:latin typeface="Calibri"/>
              </a:rPr>
              <a:t>Groq-powered — zero local GPU dependency for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1206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D9FF"/>
                </a:solidFill>
                <a:latin typeface="Calibri"/>
              </a:rPr>
              <a:t>🎙️  TRANSCRIPTION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Groq Whisper Large-v3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042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whisper-large-v3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Provider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52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Groq Cloud (free tier)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015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Free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01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7,200 sec audio /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502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950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Unlimited (cloud API)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988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4988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MP3, WAV, M4A, OGG, MP4, MOV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8348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474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047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~276 tokens/sec on Groq LPU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3212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5961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5961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~2.7% WER on clean audio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188720"/>
            <a:ext cx="5394960" cy="51206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EFF"/>
                </a:solidFill>
                <a:latin typeface="Calibri"/>
              </a:rPr>
              <a:t>💬  SUMMARIZATION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719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Llama 3.3 70B Versatile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24028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3042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llama-3.3-70b-versatile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278892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8529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Provider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852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Groq Cloud (paid tier)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33756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4015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Input Price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401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$0.59 / 1M tokens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388620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9502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Output Price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950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$0.79 / 1M tokens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43484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4988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4988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128,000 tokens max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498348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0474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Max 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0474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32,768 tokens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5532120"/>
            <a:ext cx="2194560" cy="438912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5961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Rate Limit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55961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6,000 TPM / 1,000 RPD (free)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090CC"/>
                </a:solidFill>
                <a:latin typeface="Calibri"/>
              </a:rPr>
              <a:t>→  Migration from local Mistral 7B (unsloth 4-bit) to Groq eliminates GPU contention, enables concurrent jobs, and removes RTX 3070 as single point of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SaaS Features &amp; Subscription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4114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$0 / 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338328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60 min transcription/mo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8152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10 summaries/mo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989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Audio files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9826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Basic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05840"/>
            <a:ext cx="3657600" cy="4114800"/>
          </a:xfrm>
          <a:prstGeom prst="rect">
            <a:avLst/>
          </a:prstGeom>
          <a:solidFill>
            <a:srgbClr val="46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05840"/>
            <a:ext cx="3657600" cy="292608"/>
          </a:xfrm>
          <a:prstGeom prst="rect">
            <a:avLst/>
          </a:prstGeom>
          <a:solidFill>
            <a:srgbClr val="6C6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241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★ MOST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3533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alibri"/>
              </a:rPr>
              <a:t>$9.99 / 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304288"/>
            <a:ext cx="338328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42316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600 min transcription/mo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8152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100 summaries/mo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73989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Audio + Video +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9826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Usage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005840"/>
            <a:ext cx="3657600" cy="41148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3533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737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alibri"/>
              </a:rPr>
              <a:t>$29.99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304288"/>
            <a:ext cx="338328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2316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500 summaries/mo (capped)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08152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All file types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73989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Priority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39826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F"/>
                </a:solidFill>
                <a:latin typeface="Calibri"/>
              </a:rPr>
              <a:t>✓  Admin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8523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CORE SAAS FEATURES IMPLEMENTED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96128"/>
            <a:ext cx="1828800" cy="47548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650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Stripe Billing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22576" y="5596128"/>
            <a:ext cx="1828800" cy="47548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95728" y="5650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Usage Enforcement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9392" y="5596128"/>
            <a:ext cx="1828800" cy="47548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2544" y="5650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5596128"/>
            <a:ext cx="1828800" cy="47548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650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Async Job Queue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93024" y="5596128"/>
            <a:ext cx="1828800" cy="47548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6" y="5650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Chunking Pipeline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5596128"/>
            <a:ext cx="1828800" cy="47548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22992" y="56509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File Type 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FF"/>
                </a:solidFill>
                <a:latin typeface="Calibri"/>
              </a:rPr>
              <a:t>Per-job AI costs mapped to your subscription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338328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90CC"/>
                </a:solidFill>
                <a:latin typeface="Calibri"/>
              </a:rPr>
              <a:t>COST PER JOB (30-min audio)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120640" cy="42976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7647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Transcript input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76479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FF"/>
                </a:solidFill>
                <a:latin typeface="Calibri"/>
              </a:rPr>
              <a:t>~4,000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6479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$0.0024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5120640" cy="42976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860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Prompt 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FF"/>
                </a:solidFill>
                <a:latin typeface="Calibri"/>
              </a:rPr>
              <a:t>~200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$0.00012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34056"/>
            <a:ext cx="5120640" cy="42976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8072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Summary output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8072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FF"/>
                </a:solidFill>
                <a:latin typeface="Calibri"/>
              </a:rPr>
              <a:t>~400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072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$0.00032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55264"/>
            <a:ext cx="5120640" cy="42976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32841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Groq Whisper (free tier)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32841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FF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2841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Calibri"/>
              </a:rPr>
              <a:t>$0.00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5120640" cy="429768"/>
          </a:xfrm>
          <a:prstGeom prst="rect">
            <a:avLst/>
          </a:prstGeom>
          <a:solidFill>
            <a:srgbClr val="46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84962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 PER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84962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BEFF"/>
                </a:solidFill>
                <a:latin typeface="Calibri"/>
              </a:rPr>
              <a:t>~4,600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849624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0B981"/>
                </a:solidFill>
                <a:latin typeface="Calibri"/>
              </a:rPr>
              <a:t>$0.003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143000"/>
            <a:ext cx="5486400" cy="338328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90CC"/>
                </a:solidFill>
                <a:latin typeface="Calibri"/>
              </a:rPr>
              <a:t>PLAN MARGIN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664208"/>
            <a:ext cx="5303520" cy="38404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719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090CC"/>
                </a:solidFill>
                <a:latin typeface="Calibri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17190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090CC"/>
                </a:solidFill>
                <a:latin typeface="Calibri"/>
              </a:rPr>
              <a:t>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17190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090CC"/>
                </a:solidFill>
                <a:latin typeface="Calibri"/>
              </a:rPr>
              <a:t>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17190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090CC"/>
                </a:solidFill>
                <a:latin typeface="Calibri"/>
              </a:rPr>
              <a:t>AI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090CC"/>
                </a:solidFill>
                <a:latin typeface="Calibri"/>
              </a:rPr>
              <a:t>Margin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130552"/>
            <a:ext cx="5303520" cy="56692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2677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22677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2677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$0.03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2267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$-0.03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788920"/>
            <a:ext cx="5303520" cy="566928"/>
          </a:xfrm>
          <a:prstGeom prst="rect">
            <a:avLst/>
          </a:prstGeom>
          <a:solidFill>
            <a:srgbClr val="15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9260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292607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$9.99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2926079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2926079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$0.30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29260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$9.69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3447288"/>
            <a:ext cx="5303520" cy="566928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5844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3584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$29.99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3584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5844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3584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$28.49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75488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48280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$0.003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504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Cost per job (avg)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475488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46120" y="48280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96.9%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5504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Pro plan margin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475488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48280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$28.49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5504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Business profit/user/mo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475488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32520" y="482803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~$4/mo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04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Groq cost @ 100 Pro users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291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Note: Free plan absorbs ~$0.03/user/mo in AI costs. Offset by upsell conversion.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56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EFF"/>
                </a:solidFill>
                <a:latin typeface="Calibri"/>
              </a:rPr>
              <a:t>Conservative 12-month MRR forecast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20040" y="1005840"/>
          <a:ext cx="7772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1005840"/>
            <a:ext cx="3566160" cy="36576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090CC"/>
                </a:solidFill>
                <a:latin typeface="Calibri"/>
              </a:rPr>
              <a:t>MILESTONES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508760"/>
            <a:ext cx="3246120" cy="65836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1554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Month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$130 MRR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9476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FF"/>
                </a:solidFill>
                <a:latin typeface="Calibri"/>
              </a:rPr>
              <a:t>First paying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2286000"/>
            <a:ext cx="3246120" cy="65836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331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Month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$549 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7249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FF"/>
                </a:solidFill>
                <a:latin typeface="Calibri"/>
              </a:rPr>
              <a:t>Product-market 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3063239"/>
            <a:ext cx="3246120" cy="65836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310895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Month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3375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$1,048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50215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FF"/>
                </a:solidFill>
                <a:latin typeface="Calibri"/>
              </a:rPr>
              <a:t>Groq paid tier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3840479"/>
            <a:ext cx="3246120" cy="65836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388619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90CC"/>
                </a:solidFill>
                <a:latin typeface="Calibri"/>
              </a:rPr>
              <a:t>Month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41147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$2,457 MRR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4279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FF"/>
                </a:solidFill>
                <a:latin typeface="Calibri"/>
              </a:rPr>
              <a:t>Scale &amp; hire phase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463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KEY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138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•  5–10% Free→Pro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138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•  2–3% Pro→Business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38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•  ~5% monthly churn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138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•  No paid marketing in M1–M6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2356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6967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$2,457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733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Projected MRR — Month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562356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56967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3733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Pro users by Month 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562356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56967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63733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Business users by M12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5623560"/>
            <a:ext cx="2560320" cy="12801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56967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~$40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3733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FF"/>
                </a:solidFill>
                <a:latin typeface="Calibri"/>
              </a:rPr>
              <a:t>Groq cost at M12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FF"/>
                </a:solidFill>
                <a:latin typeface="Calibri"/>
              </a:rPr>
              <a:t>Technical and financial risk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65836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097280"/>
            <a:ext cx="1069848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1430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Groq Free Tier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173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FF"/>
                </a:solidFill>
                <a:latin typeface="Calibri"/>
              </a:rPr>
              <a:t>Risk: 1,000 req/day cap on free tier — Business 'unlimited' plan is dangerous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6187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CD9FF"/>
                </a:solidFill>
                <a:latin typeface="Calibri"/>
              </a:rPr>
              <a:t>Fix: Cap Business at 500 jobs/mo until on Groq paid. Add global daily request counter.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39"/>
            <a:ext cx="65836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39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2148839"/>
            <a:ext cx="1069848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19455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Single PC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688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FF"/>
                </a:solidFill>
                <a:latin typeface="Calibri"/>
              </a:rPr>
              <a:t>Risk: Faster Whisper still runs on local RTX 3070 — PC downtime = service downtime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1343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CD9FF"/>
                </a:solidFill>
                <a:latin typeface="Calibri"/>
              </a:rPr>
              <a:t>Fix: Migrate Whisper to Groq API (free tier: 7,200 sec/day). Fully cloud-native.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65836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290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3200400"/>
            <a:ext cx="1069848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246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Token Cost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20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FF"/>
                </a:solidFill>
                <a:latin typeface="Calibri"/>
              </a:rPr>
              <a:t>Risk: Long files produce large transcripts → high token count → unexpected Groq bill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6499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CD9FF"/>
                </a:solidFill>
                <a:latin typeface="Calibri"/>
              </a:rPr>
              <a:t>Fix: Add per-job token budget. Chunking pipeline caps token spend per request.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51959"/>
            <a:ext cx="65836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80559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4251959"/>
            <a:ext cx="1069848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29767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Privacy (User Audio)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5719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FF"/>
                </a:solidFill>
                <a:latin typeface="Calibri"/>
              </a:rPr>
              <a:t>Risk: User files sent to third-party APIs (Groq, Stripe) — privacy concern for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416551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CD9FF"/>
                </a:solidFill>
                <a:latin typeface="Calibri"/>
              </a:rPr>
              <a:t>Fix: Add clear privacy policy. Offer on-premise tier for enterprise clients later.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65836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53212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8" y="5303520"/>
            <a:ext cx="1069848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3492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Stripe Webhook 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62355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FF"/>
                </a:solidFill>
                <a:latin typeface="Calibri"/>
              </a:rPr>
              <a:t>Risk: Missed webhook = user not upgraded or wrongly downgraded after 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68112"/>
            <a:ext cx="5349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CD9FF"/>
                </a:solidFill>
                <a:latin typeface="Calibri"/>
              </a:rPr>
              <a:t>Fix: Idempotent webhook handler + fallback polling Stripe API every 24h.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88920" cy="5029200"/>
          </a:xfrm>
          <a:prstGeom prst="rect">
            <a:avLst/>
          </a:prstGeom>
          <a:solidFill>
            <a:srgbClr val="46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1
Weeks 1–2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82880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✓ Migrate Mistral → Groq Llama 3.3 70B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60604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✓ Migrate Whisper → Groq Whisper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38328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✓ Implement chunking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16052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✓ Add file type router (audio/video/PDF)</a:t>
            </a:r>
          </a:p>
        </p:txBody>
      </p:sp>
      <p:sp>
        <p:nvSpPr>
          <p:cNvPr id="12" name="Oval 11"/>
          <p:cNvSpPr/>
          <p:nvPr/>
        </p:nvSpPr>
        <p:spPr>
          <a:xfrm>
            <a:off x="1325880" y="452628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553712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46C8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005840"/>
            <a:ext cx="2788920" cy="50292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07899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2
Weeks 3–4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9856" y="16916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82880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Stripe billing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0604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Usage tracking &amp; 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38328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Subscription plans (Free/Pro/Business)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416052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Stripe webhook handler</a:t>
            </a:r>
          </a:p>
        </p:txBody>
      </p:sp>
      <p:sp>
        <p:nvSpPr>
          <p:cNvPr id="21" name="Oval 20"/>
          <p:cNvSpPr/>
          <p:nvPr/>
        </p:nvSpPr>
        <p:spPr>
          <a:xfrm>
            <a:off x="4288536" y="452628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4553712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E45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005840"/>
            <a:ext cx="2788920" cy="5029200"/>
          </a:xfrm>
          <a:prstGeom prst="rect">
            <a:avLst/>
          </a:prstGeom>
          <a:solidFill>
            <a:srgbClr val="065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07899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3
Weeks 5–6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16916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182880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Admin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260604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User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8328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MRR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16052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Job monitoring</a:t>
            </a:r>
          </a:p>
        </p:txBody>
      </p:sp>
      <p:sp>
        <p:nvSpPr>
          <p:cNvPr id="30" name="Oval 29"/>
          <p:cNvSpPr/>
          <p:nvPr/>
        </p:nvSpPr>
        <p:spPr>
          <a:xfrm>
            <a:off x="7251192" y="452628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51192" y="4553712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507A"/>
                </a:solidFill>
                <a:latin typeface="Calibr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08008" y="1005840"/>
            <a:ext cx="2788920" cy="5029200"/>
          </a:xfrm>
          <a:prstGeom prst="rect">
            <a:avLst/>
          </a:prstGeom>
          <a:solidFill>
            <a:srgbClr val="0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5168" y="107899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4
Weeks 7–8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5168" y="16916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182880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Beta 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60604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Onboarding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38328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Email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160520"/>
            <a:ext cx="2450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F"/>
                </a:solidFill>
                <a:latin typeface="Calibri"/>
              </a:rPr>
              <a:t>Performance tuning</a:t>
            </a:r>
          </a:p>
        </p:txBody>
      </p:sp>
      <p:sp>
        <p:nvSpPr>
          <p:cNvPr id="39" name="Oval 38"/>
          <p:cNvSpPr/>
          <p:nvPr/>
        </p:nvSpPr>
        <p:spPr>
          <a:xfrm>
            <a:off x="10213848" y="452628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13848" y="4553712"/>
            <a:ext cx="777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3A5A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1996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Target: Production-ready SaaS in 8 weeks with full billing, AI cloud migration, and admin tooling.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46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Ready to
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175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FF"/>
                </a:solidFill>
                <a:latin typeface="Calibri"/>
              </a:rPr>
              <a:t>From local GPU prototype
to production SaaS in 8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43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90CC"/>
                </a:solidFill>
                <a:latin typeface="Calibri"/>
              </a:rPr>
              <a:t>Cloud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517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Groq handles Whisper + Llama 3.3 70B — zero local GPU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48840"/>
            <a:ext cx="530352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90CC"/>
                </a:solidFill>
                <a:latin typeface="Calibri"/>
              </a:rPr>
              <a:t>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780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Unlimited parallel jobs via cloud APIs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108960"/>
            <a:ext cx="530352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63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90CC"/>
                </a:solidFill>
                <a:latin typeface="Calibri"/>
              </a:rPr>
              <a:t>Margins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381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96.9% gross margin on Pro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069080"/>
            <a:ext cx="530352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123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90CC"/>
                </a:solidFill>
                <a:latin typeface="Calibri"/>
              </a:rPr>
              <a:t>Projections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3982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$2,457 MRR by Month 12 (conservative)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029200"/>
            <a:ext cx="5303520" cy="77724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5084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90CC"/>
                </a:solidFill>
                <a:latin typeface="Calibri"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358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8 weeks to production-ready 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62636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Built with: React · FastAPI · Groq · Stripe · ffmpeg · pdfplumber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