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4682" autoAdjust="0"/>
  </p:normalViewPr>
  <p:slideViewPr>
    <p:cSldViewPr snapToGrid="0" snapToObjects="1">
      <p:cViewPr varScale="1">
        <p:scale>
          <a:sx n="83" d="100"/>
          <a:sy n="83" d="100"/>
        </p:scale>
        <p:origin x="1450" y="91"/>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000" b="0" i="0" u="none" strike="noStrike">
                <a:solidFill>
                  <a:srgbClr val="8B949E"/>
                </a:solidFill>
                <a:latin typeface="Arial"/>
              </a:defRPr>
            </a:pPr>
            <a:r>
              <a:rPr lang="fr-FR" sz="1000" b="0" i="0" u="none" strike="noStrike">
                <a:solidFill>
                  <a:srgbClr val="8B949E"/>
                </a:solidFill>
                <a:latin typeface="Arial"/>
              </a:rPr>
              <a:t>Total Time (min)</a:t>
            </a:r>
          </a:p>
        </c:rich>
      </c:tx>
      <c:overlay val="0"/>
    </c:title>
    <c:autoTitleDeleted val="0"/>
    <c:plotArea>
      <c:layout/>
      <c:barChart>
        <c:barDir val="col"/>
        <c:grouping val="clustered"/>
        <c:varyColors val="0"/>
        <c:ser>
          <c:idx val="0"/>
          <c:order val="0"/>
          <c:tx>
            <c:strRef>
              <c:f>Sheet1!$B$1</c:f>
              <c:strCache>
                <c:ptCount val="1"/>
                <c:pt idx="0">
                  <c:v>Total Processing Time</c:v>
                </c:pt>
              </c:strCache>
            </c:strRef>
          </c:tx>
          <c:spPr>
            <a:solidFill>
              <a:srgbClr val="10B981"/>
            </a:solidFill>
            <a:effectLst/>
          </c:spPr>
          <c:invertIfNegative val="0"/>
          <c:dPt>
            <c:idx val="0"/>
            <c:invertIfNegative val="0"/>
            <c:bubble3D val="0"/>
            <c:extLst>
              <c:ext xmlns:c16="http://schemas.microsoft.com/office/drawing/2014/chart" uri="{C3380CC4-5D6E-409C-BE32-E72D297353CC}">
                <c16:uniqueId val="{00000001-8F1F-48D0-AE96-C736172189AC}"/>
              </c:ext>
            </c:extLst>
          </c:dPt>
          <c:dPt>
            <c:idx val="1"/>
            <c:invertIfNegative val="0"/>
            <c:bubble3D val="0"/>
            <c:spPr>
              <a:solidFill>
                <a:srgbClr val="F59E0B"/>
              </a:solidFill>
              <a:effectLst/>
            </c:spPr>
            <c:extLst>
              <c:ext xmlns:c16="http://schemas.microsoft.com/office/drawing/2014/chart" uri="{C3380CC4-5D6E-409C-BE32-E72D297353CC}">
                <c16:uniqueId val="{00000003-8F1F-48D0-AE96-C736172189AC}"/>
              </c:ext>
            </c:extLst>
          </c:dPt>
          <c:dPt>
            <c:idx val="2"/>
            <c:invertIfNegative val="0"/>
            <c:bubble3D val="0"/>
            <c:spPr>
              <a:solidFill>
                <a:srgbClr val="3B82F6"/>
              </a:solidFill>
              <a:effectLst/>
            </c:spPr>
            <c:extLst>
              <c:ext xmlns:c16="http://schemas.microsoft.com/office/drawing/2014/chart" uri="{C3380CC4-5D6E-409C-BE32-E72D297353CC}">
                <c16:uniqueId val="{00000005-8F1F-48D0-AE96-C736172189AC}"/>
              </c:ext>
            </c:extLst>
          </c:dPt>
          <c:dLbls>
            <c:numFmt formatCode="#,##0" sourceLinked="0"/>
            <c:spPr>
              <a:noFill/>
              <a:ln>
                <a:noFill/>
              </a:ln>
              <a:effectLst/>
            </c:spPr>
            <c:txPr>
              <a:bodyPr/>
              <a:lstStyle/>
              <a:p>
                <a:pPr>
                  <a:defRPr sz="1000" b="0" i="0" u="none" strike="noStrike">
                    <a:solidFill>
                      <a:srgbClr val="F0F6FC"/>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4-min video</c:v>
                </c:pt>
                <c:pt idx="1">
                  <c:v>1-hour video</c:v>
                </c:pt>
                <c:pt idx="2">
                  <c:v>50-page PDF</c:v>
                </c:pt>
              </c:strCache>
            </c:strRef>
          </c:cat>
          <c:val>
            <c:numRef>
              <c:f>Sheet1!$B$2:$B$4</c:f>
              <c:numCache>
                <c:formatCode>General</c:formatCode>
                <c:ptCount val="3"/>
                <c:pt idx="0">
                  <c:v>7</c:v>
                </c:pt>
                <c:pt idx="1">
                  <c:v>32</c:v>
                </c:pt>
                <c:pt idx="2">
                  <c:v>4</c:v>
                </c:pt>
              </c:numCache>
            </c:numRef>
          </c:val>
          <c:extLst>
            <c:ext xmlns:c16="http://schemas.microsoft.com/office/drawing/2014/chart" uri="{C3380CC4-5D6E-409C-BE32-E72D297353CC}">
              <c16:uniqueId val="{00000006-8F1F-48D0-AE96-C736172189A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Arial"/>
              </a:defRPr>
            </a:pPr>
            <a:endParaRPr lang="fr-F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0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49E"/>
                </a:solidFill>
                <a:latin typeface="Arial"/>
              </a:defRPr>
            </a:pPr>
            <a:endParaRPr lang="fr-FR"/>
          </a:p>
        </c:txPr>
        <c:crossAx val="2094734554"/>
        <c:crosses val="autoZero"/>
        <c:crossBetween val="between"/>
      </c:valAx>
      <c:spPr>
        <a:noFill/>
        <a:ln>
          <a:noFill/>
        </a:ln>
        <a:effectLst/>
      </c:spPr>
    </c:plotArea>
    <c:plotVisOnly val="1"/>
    <c:dispBlanksAs val="span"/>
    <c:showDLblsOverMax val="1"/>
  </c:chart>
  <c:spPr>
    <a:solidFill>
      <a:srgbClr val="161B22"/>
    </a:solidFill>
    <a:ln w="6350" cap="flat">
      <a:solidFill>
        <a:srgbClr val="30363D"/>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496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Today we are presenting MeetingAI — an AI-powered meeting assistant I built as part of our academic project. The goal was simple: take a meeting recording, upload it, and get a structured summary in minutes — automatically. What started as an MVP has grown into a full production-grade SaaS platform, and that's what I'll walk you through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MeetingAI? At its core, it's a web platform that takes audio files, video recordings, or PDF documents from meetings and runs them through an AI pipeline that produces a full transcript, a detailed summary, key points, and conclusions — all without any manual effort.</a:t>
            </a:r>
          </a:p>
          <a:p>
            <a:r>
              <a:rPr lang="en-US" dirty="0"/>
              <a:t>It supports French and English, with Arabic planned as a next phase. Users are organized into three roles: standard free users, subscribed users on Pro or Business plans, and administrators who manage the platform. The core value proposition is straightforward: you upload a file, and within minutes you have a structured, readable summary of everything that was said.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built on three layers. On the frontend, I used React 19 with TypeScript, Vite as the build tool, and Framer Motion for animations. Payments are handled client-side with Stripe.js.</a:t>
            </a:r>
          </a:p>
          <a:p>
            <a:r>
              <a:rPr lang="en-US" dirty="0"/>
              <a:t>The backend is a Python FastAPI application running on Python 3.14. It handles authentication with JWT, manages the database through SQLAlchemy, enforces usage limits, and integrates with Stripe for billing and webhooks.</a:t>
            </a:r>
          </a:p>
          <a:p>
            <a:r>
              <a:rPr lang="en-US" dirty="0"/>
              <a:t>The AI service is a separate FastAPI instance running on Python 3.10 — this separation is intentional because the AI dependencies, particularly PyTorch and faster-whisper, require an older Python version. Transcription is done with OpenAI's Whisper model, and language understanding is powered by the Groq API running LLaMA 3.3 70B, which gives us very fast inference without needing to run a large model locally.</a:t>
            </a:r>
          </a:p>
          <a:p>
            <a:r>
              <a:rPr lang="en-US" dirty="0"/>
              <a:t>For the database, SQLite is used in development, and the architecture is ready to switch to PostgreSQL for production.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three-service design. When a user uploads a file through the React frontend, the backend first validates it — checking the MIME type, file size, and usage limits. It then creates a processing job and delegates the heavy work to the AI service asynchronously.</a:t>
            </a:r>
          </a:p>
          <a:p>
            <a:r>
              <a:rPr lang="en-US" dirty="0"/>
              <a:t>Depending on the file type: videos go through FFmpeg first to extract audio, then Whisper transcribes it, then the LLM analyzes it. PDFs skip Whisper entirely and go straight from text extraction to the LLM. The frontend polls for job status every few seconds and renders the results as soon as they're ready.</a:t>
            </a:r>
          </a:p>
          <a:p>
            <a:r>
              <a:rPr lang="en-US" dirty="0"/>
              <a:t>The database has seven core tables covering users, meetings, transcriptions, summaries, files, processing jobs, and usage counters.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what's fully working. On the authentication and security side: users register and log in with JWT tokens that carry their role and plan tier. Passwords are hashed with bcrypt. Accounts support soft-deletion with a 30-day recovery window, and all file uploads are protected against path-traversal attacks with server-side MIME and size validation.</a:t>
            </a:r>
          </a:p>
          <a:p>
            <a:r>
              <a:rPr lang="en-US" dirty="0"/>
              <a:t>For file processing: the platform accepts audio, video, PDF, and plain text files up to 500 megabytes. All processing happens asynchronously in the background with real-time job tracking, and I've personally tested recordings up to one hour in length.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AI side, Whisper automatically detects the language and produces timestamped transcript segments. The Groq LLaMA model then generates a detailed summary of 3 to 5 paragraphs, 8 to 12 key points, and 5 to 8 conclusions. For long transcripts, I implemented a map-reduce strategy — the text is split into chunks, each chunk is summarized individually, and then those summaries are synthesized into a final result. The prompts are language-aware, so French inputs get French outputs and English inputs get English outputs.</a:t>
            </a:r>
          </a:p>
          <a:p>
            <a:r>
              <a:rPr lang="en-US" dirty="0"/>
              <a:t>For billing: I integrated Stripe Checkout and the Customer Portal. The system handles five webhook events to keep subscription state in sync. There are three plan tiers — Free, Pro at $9.99 a month, and Business at $29.99. Usage is tracked per billing period and reset automatically on renewal.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significant part of this project was debugging and iterating. Let me highlight the most important fixes.</a:t>
            </a:r>
          </a:p>
          <a:p>
            <a:r>
              <a:rPr lang="en-US" dirty="0"/>
              <a:t>The first major issue was a bcrypt crash caused by the passlib library being incompatible with newer bcrypt versions — I replaced it with direct bcrypt calls. Then I had a type mismatch where audio duration was stored as an integer but the AI service returned a float, causing 500 errors on the meeting list endpoint.</a:t>
            </a:r>
          </a:p>
          <a:p>
            <a:r>
              <a:rPr lang="en-US" dirty="0"/>
              <a:t>The most impactful fix was the timeout issue: a one-hour video takes up to 30 minutes to process, but the HTTP client had a 10-minute timeout. Raising it to two hours resolved this completely. I also added VAD filtering to Whisper, which prevents it from allocating 1.15 gigabytes of memory upfront for the full audio waveform.</a:t>
            </a:r>
          </a:p>
          <a:p>
            <a:r>
              <a:rPr lang="en-US" dirty="0"/>
              <a:t>On the Stripe side, there was a subtle bug where price IDs were cached at module import time — before the environment variables were loaded — resulting in an empty allowed-price set. Moving that logic inside the request handler fixed it. I also had to correct a user error where a Product ID was used instead of a Price ID — those are different objects in Stripe's API.</a:t>
            </a:r>
          </a:p>
          <a:p>
            <a:r>
              <a:rPr lang="en-US" dirty="0"/>
              <a:t>Finally, I migrated the original Spring Boot backend to FastAPI to have a consistent Python stack that integrates directly with the AI service.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real-world processing times measured on the target hardware: an RTX 3070 with 8 gigabytes of VRAM, a Ryzen 7 5800H, and 16 gigabytes of RAM.</a:t>
            </a:r>
          </a:p>
          <a:p>
            <a:r>
              <a:rPr lang="en-US" dirty="0"/>
              <a:t>A 4-minute video takes about 7 minutes total — 1 minute for Whisper, 6 minutes for the LLM. A one-hour video takes around 32 minutes. A 50-page PDF, which skips Whisper entirely, takes about 4 minutes.</a:t>
            </a:r>
          </a:p>
          <a:p>
            <a:r>
              <a:rPr lang="en-US" dirty="0"/>
              <a:t>Four optimizations make this possible: int8 quantization on Whisper to fit within 8 gigabytes of VRAM, VAD filtering to avoid the memory spike, keeping the LLM loaded in memory between requests to avoid reload overhead, and map-reduce chunking for transcripts longer than 2,000 words.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three subscription tiers. The Free plan gives users 30 minutes of transcription and 10 AI summaries per month, plus 3 PDF text extractions per day. It resets on the first of each month.</a:t>
            </a:r>
          </a:p>
          <a:p>
            <a:r>
              <a:rPr lang="en-US" dirty="0"/>
              <a:t>The Pro plan at $9.99 a month increases those limits to 600 minutes and 100 summaries, with unlimited PDF tools. The Business plan at $29.99 removes all limits entirely.</a:t>
            </a:r>
          </a:p>
          <a:p>
            <a:r>
              <a:rPr lang="en-US" dirty="0"/>
              <a:t>Upgrades are handled through Stripe Checkout with a single click, and users can manage or cancel their subscription through the Stripe Customer Portal — all without touching the backend manually.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still left to build falls into three priority levels.</a:t>
            </a:r>
          </a:p>
          <a:p>
            <a:r>
              <a:rPr lang="en-US" dirty="0"/>
              <a:t>High priority — meaning production-critical: migrating from SQLite to PostgreSQL for multi-user reliability, replacing FastAPI BackgroundTasks with Celery and Redis so jobs aren't lost on server restart, and adding email notifications for job completion and payment failures.</a:t>
            </a:r>
          </a:p>
          <a:p>
            <a:r>
              <a:rPr lang="en-US" dirty="0"/>
              <a:t>Medium priority: real-time updates via WebSockets instead of polling, full-text search across transcripts, and speaker diarization — identifying who said what in a recording.</a:t>
            </a:r>
          </a:p>
          <a:p>
            <a:r>
              <a:rPr lang="en-US" dirty="0"/>
              <a:t>And longer term: Darija language support for Moroccan Arabic, integrations with Zoom, Teams, and Google Meet, and team collaboration features.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where things stand: the project is approximately 87% complete. The core processing pipeline, authentication, billing, usage tracking, and admin dashboard are all at 100%. The frontend UI is at 95% — fully functional, with minor polish remaining.</a:t>
            </a:r>
          </a:p>
          <a:p>
            <a:r>
              <a:rPr lang="en-US" dirty="0"/>
              <a:t>What's at 0% are the production infrastructure items: the job queue, PostgreSQL migration, real-time updates, and speaker diarization. These are engineering investments for a production launch, not gaps in the MVP functionality.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MeetingAI is a fully functional, production-ready MVP. It has an end-to-end AI pipeline from upload to structured output, complete SaaS infrastructure with authentication, billing, and usage enforcement, a security-first architecture, and a clean modular codebase.</a:t>
            </a:r>
          </a:p>
          <a:p>
            <a:r>
              <a:rPr lang="en-US" dirty="0"/>
              <a:t>The technology is proven and working. What remains is production hardening — PostgreSQL, a proper job queue, and deployment to cloud infrastructure.</a:t>
            </a:r>
          </a:p>
          <a:p>
            <a:r>
              <a:rPr lang="en-US" dirty="0"/>
              <a:t>Thank you.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217920" y="-731520"/>
            <a:ext cx="4114800" cy="4114800"/>
          </a:xfrm>
          <a:prstGeom prst="ellipse">
            <a:avLst/>
          </a:prstGeom>
          <a:solidFill>
            <a:srgbClr val="7C3AED">
              <a:alpha val="12000"/>
            </a:srgbClr>
          </a:solidFill>
          <a:ln w="19050">
            <a:solidFill>
              <a:srgbClr val="7C3AED"/>
            </a:solidFill>
            <a:prstDash val="solid"/>
          </a:ln>
        </p:spPr>
      </p:sp>
      <p:sp>
        <p:nvSpPr>
          <p:cNvPr id="3" name="Shape 1"/>
          <p:cNvSpPr/>
          <p:nvPr/>
        </p:nvSpPr>
        <p:spPr>
          <a:xfrm>
            <a:off x="7132320" y="1645920"/>
            <a:ext cx="2926080" cy="2926080"/>
          </a:xfrm>
          <a:prstGeom prst="ellipse">
            <a:avLst/>
          </a:prstGeom>
          <a:solidFill>
            <a:srgbClr val="3B82F6">
              <a:alpha val="18000"/>
            </a:srgbClr>
          </a:solidFill>
          <a:ln w="12700">
            <a:solidFill>
              <a:srgbClr val="3B82F6"/>
            </a:solidFill>
            <a:prstDash val="solid"/>
          </a:ln>
        </p:spPr>
      </p:sp>
      <p:sp>
        <p:nvSpPr>
          <p:cNvPr id="4" name="Shape 2"/>
          <p:cNvSpPr/>
          <p:nvPr/>
        </p:nvSpPr>
        <p:spPr>
          <a:xfrm>
            <a:off x="0" y="5088636"/>
            <a:ext cx="9144000" cy="54864"/>
          </a:xfrm>
          <a:prstGeom prst="rect">
            <a:avLst/>
          </a:prstGeom>
          <a:solidFill>
            <a:srgbClr val="7C3AED"/>
          </a:solidFill>
          <a:ln w="12700">
            <a:solidFill>
              <a:srgbClr val="7C3AED"/>
            </a:solidFill>
            <a:prstDash val="solid"/>
          </a:ln>
        </p:spPr>
      </p:sp>
      <p:sp>
        <p:nvSpPr>
          <p:cNvPr id="5" name="Text 3"/>
          <p:cNvSpPr/>
          <p:nvPr/>
        </p:nvSpPr>
        <p:spPr>
          <a:xfrm>
            <a:off x="457200" y="1005840"/>
            <a:ext cx="5943600" cy="1188720"/>
          </a:xfrm>
          <a:prstGeom prst="rect">
            <a:avLst/>
          </a:prstGeom>
          <a:noFill/>
          <a:ln/>
        </p:spPr>
        <p:txBody>
          <a:bodyPr wrap="square" lIns="0" tIns="0" rIns="0" bIns="0" rtlCol="0" anchor="ctr"/>
          <a:lstStyle/>
          <a:p>
            <a:pPr marL="0" indent="0">
              <a:buNone/>
            </a:pPr>
            <a:r>
              <a:rPr lang="en-US" sz="6400" b="1" dirty="0">
                <a:solidFill>
                  <a:srgbClr val="F0F6FC"/>
                </a:solidFill>
                <a:latin typeface="Georgia" pitchFamily="34" charset="0"/>
                <a:ea typeface="Georgia" pitchFamily="34" charset="-122"/>
                <a:cs typeface="Georgia" pitchFamily="34" charset="-120"/>
              </a:rPr>
              <a:t>MeetingAI</a:t>
            </a:r>
            <a:endParaRPr lang="en-US" sz="6400" dirty="0"/>
          </a:p>
        </p:txBody>
      </p:sp>
      <p:sp>
        <p:nvSpPr>
          <p:cNvPr id="6" name="Text 4"/>
          <p:cNvSpPr/>
          <p:nvPr/>
        </p:nvSpPr>
        <p:spPr>
          <a:xfrm>
            <a:off x="457200" y="2286000"/>
            <a:ext cx="5943600" cy="411480"/>
          </a:xfrm>
          <a:prstGeom prst="rect">
            <a:avLst/>
          </a:prstGeom>
          <a:noFill/>
          <a:ln/>
        </p:spPr>
        <p:txBody>
          <a:bodyPr wrap="square" lIns="0" tIns="0" rIns="0" bIns="0" rtlCol="0" anchor="ctr"/>
          <a:lstStyle/>
          <a:p>
            <a:pPr marL="0" indent="0">
              <a:buNone/>
            </a:pPr>
            <a:r>
              <a:rPr lang="en-US" sz="2000" dirty="0">
                <a:solidFill>
                  <a:srgbClr val="93C5FD"/>
                </a:solidFill>
                <a:latin typeface="Calibri" pitchFamily="34" charset="0"/>
                <a:ea typeface="Calibri" pitchFamily="34" charset="-122"/>
                <a:cs typeface="Calibri" pitchFamily="34" charset="-120"/>
              </a:rPr>
              <a:t>AI-Powered Meeting Assistant</a:t>
            </a:r>
            <a:endParaRPr lang="en-US" sz="2000" dirty="0"/>
          </a:p>
        </p:txBody>
      </p:sp>
      <p:sp>
        <p:nvSpPr>
          <p:cNvPr id="7" name="Text 5"/>
          <p:cNvSpPr/>
          <p:nvPr/>
        </p:nvSpPr>
        <p:spPr>
          <a:xfrm>
            <a:off x="457200" y="2706624"/>
            <a:ext cx="5943600" cy="310896"/>
          </a:xfrm>
          <a:prstGeom prst="rect">
            <a:avLst/>
          </a:prstGeom>
          <a:noFill/>
          <a:ln/>
        </p:spPr>
        <p:txBody>
          <a:bodyPr wrap="square" lIns="0" tIns="0" rIns="0" bIns="0" rtlCol="0" anchor="ctr"/>
          <a:lstStyle/>
          <a:p>
            <a:pPr marL="0" indent="0">
              <a:buNone/>
            </a:pPr>
            <a:r>
              <a:rPr lang="en-US" sz="1400" dirty="0">
                <a:solidFill>
                  <a:srgbClr val="8B949E"/>
                </a:solidFill>
                <a:latin typeface="Calibri" pitchFamily="34" charset="0"/>
                <a:ea typeface="Calibri" pitchFamily="34" charset="-122"/>
                <a:cs typeface="Calibri" pitchFamily="34" charset="-120"/>
              </a:rPr>
              <a:t>Project Progress Report — May 2026</a:t>
            </a:r>
            <a:endParaRPr lang="en-US" sz="1400" dirty="0"/>
          </a:p>
        </p:txBody>
      </p:sp>
      <p:sp>
        <p:nvSpPr>
          <p:cNvPr id="8" name="Shape 6"/>
          <p:cNvSpPr/>
          <p:nvPr/>
        </p:nvSpPr>
        <p:spPr>
          <a:xfrm>
            <a:off x="457200" y="3657600"/>
            <a:ext cx="1737360" cy="274320"/>
          </a:xfrm>
          <a:prstGeom prst="rect">
            <a:avLst/>
          </a:prstGeom>
          <a:solidFill>
            <a:srgbClr val="7C3AED">
              <a:alpha val="22000"/>
            </a:srgbClr>
          </a:solidFill>
          <a:ln w="9525">
            <a:solidFill>
              <a:srgbClr val="A78BFA"/>
            </a:solidFill>
            <a:prstDash val="solid"/>
          </a:ln>
        </p:spPr>
      </p:sp>
      <p:sp>
        <p:nvSpPr>
          <p:cNvPr id="9" name="Text 7"/>
          <p:cNvSpPr/>
          <p:nvPr/>
        </p:nvSpPr>
        <p:spPr>
          <a:xfrm>
            <a:off x="457200" y="3657600"/>
            <a:ext cx="1737360" cy="274320"/>
          </a:xfrm>
          <a:prstGeom prst="rect">
            <a:avLst/>
          </a:prstGeom>
          <a:noFill/>
          <a:ln/>
        </p:spPr>
        <p:txBody>
          <a:bodyPr wrap="square" lIns="0" tIns="0" rIns="0" bIns="0"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SaaS Platform</a:t>
            </a:r>
            <a:endParaRPr lang="en-US" sz="1000" dirty="0"/>
          </a:p>
        </p:txBody>
      </p:sp>
      <p:sp>
        <p:nvSpPr>
          <p:cNvPr id="10" name="Shape 8"/>
          <p:cNvSpPr/>
          <p:nvPr/>
        </p:nvSpPr>
        <p:spPr>
          <a:xfrm>
            <a:off x="2331720" y="3657600"/>
            <a:ext cx="1737360" cy="274320"/>
          </a:xfrm>
          <a:prstGeom prst="rect">
            <a:avLst/>
          </a:prstGeom>
          <a:solidFill>
            <a:srgbClr val="7C3AED">
              <a:alpha val="22000"/>
            </a:srgbClr>
          </a:solidFill>
          <a:ln w="9525">
            <a:solidFill>
              <a:srgbClr val="A78BFA"/>
            </a:solidFill>
            <a:prstDash val="solid"/>
          </a:ln>
        </p:spPr>
      </p:sp>
      <p:sp>
        <p:nvSpPr>
          <p:cNvPr id="11" name="Text 9"/>
          <p:cNvSpPr/>
          <p:nvPr/>
        </p:nvSpPr>
        <p:spPr>
          <a:xfrm>
            <a:off x="2331720" y="3657600"/>
            <a:ext cx="1737360" cy="274320"/>
          </a:xfrm>
          <a:prstGeom prst="rect">
            <a:avLst/>
          </a:prstGeom>
          <a:noFill/>
          <a:ln/>
        </p:spPr>
        <p:txBody>
          <a:bodyPr wrap="square" lIns="0" tIns="0" rIns="0" bIns="0"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Python + React</a:t>
            </a:r>
            <a:endParaRPr lang="en-US" sz="1000" dirty="0"/>
          </a:p>
        </p:txBody>
      </p:sp>
      <p:sp>
        <p:nvSpPr>
          <p:cNvPr id="12" name="Shape 10"/>
          <p:cNvSpPr/>
          <p:nvPr/>
        </p:nvSpPr>
        <p:spPr>
          <a:xfrm>
            <a:off x="4206240" y="3657600"/>
            <a:ext cx="1737360" cy="274320"/>
          </a:xfrm>
          <a:prstGeom prst="rect">
            <a:avLst/>
          </a:prstGeom>
          <a:solidFill>
            <a:srgbClr val="7C3AED">
              <a:alpha val="22000"/>
            </a:srgbClr>
          </a:solidFill>
          <a:ln w="9525">
            <a:solidFill>
              <a:srgbClr val="A78BFA"/>
            </a:solidFill>
            <a:prstDash val="solid"/>
          </a:ln>
        </p:spPr>
      </p:sp>
      <p:sp>
        <p:nvSpPr>
          <p:cNvPr id="13" name="Text 11"/>
          <p:cNvSpPr/>
          <p:nvPr/>
        </p:nvSpPr>
        <p:spPr>
          <a:xfrm>
            <a:off x="4206240" y="3657600"/>
            <a:ext cx="1737360" cy="274320"/>
          </a:xfrm>
          <a:prstGeom prst="rect">
            <a:avLst/>
          </a:prstGeom>
          <a:noFill/>
          <a:ln/>
        </p:spPr>
        <p:txBody>
          <a:bodyPr wrap="square" lIns="0" tIns="0" rIns="0" bIns="0"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AI-Powered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What is MeetingAI?</a:t>
            </a:r>
            <a:endParaRPr lang="en-US" sz="3400" dirty="0"/>
          </a:p>
        </p:txBody>
      </p:sp>
      <p:sp>
        <p:nvSpPr>
          <p:cNvPr id="3" name="Shape 1"/>
          <p:cNvSpPr/>
          <p:nvPr/>
        </p:nvSpPr>
        <p:spPr>
          <a:xfrm>
            <a:off x="457200" y="1170432"/>
            <a:ext cx="219456" cy="219456"/>
          </a:xfrm>
          <a:prstGeom prst="ellipse">
            <a:avLst/>
          </a:prstGeom>
          <a:solidFill>
            <a:srgbClr val="7C3AED"/>
          </a:solidFill>
          <a:ln w="12700">
            <a:solidFill>
              <a:srgbClr val="7C3AED"/>
            </a:solidFill>
            <a:prstDash val="solid"/>
          </a:ln>
        </p:spPr>
      </p:sp>
      <p:sp>
        <p:nvSpPr>
          <p:cNvPr id="4" name="Text 2"/>
          <p:cNvSpPr/>
          <p:nvPr/>
        </p:nvSpPr>
        <p:spPr>
          <a:xfrm>
            <a:off x="768096" y="1097280"/>
            <a:ext cx="4846320" cy="64008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Production-grade SaaS platform that transcribes audio, video, and PDF documents from meetings</a:t>
            </a:r>
            <a:endParaRPr lang="en-US" sz="1250" dirty="0"/>
          </a:p>
        </p:txBody>
      </p:sp>
      <p:sp>
        <p:nvSpPr>
          <p:cNvPr id="5" name="Shape 3"/>
          <p:cNvSpPr/>
          <p:nvPr/>
        </p:nvSpPr>
        <p:spPr>
          <a:xfrm>
            <a:off x="457200" y="1883664"/>
            <a:ext cx="219456" cy="219456"/>
          </a:xfrm>
          <a:prstGeom prst="ellipse">
            <a:avLst/>
          </a:prstGeom>
          <a:solidFill>
            <a:srgbClr val="7C3AED"/>
          </a:solidFill>
          <a:ln w="12700">
            <a:solidFill>
              <a:srgbClr val="7C3AED"/>
            </a:solidFill>
            <a:prstDash val="solid"/>
          </a:ln>
        </p:spPr>
      </p:sp>
      <p:sp>
        <p:nvSpPr>
          <p:cNvPr id="6" name="Text 4"/>
          <p:cNvSpPr/>
          <p:nvPr/>
        </p:nvSpPr>
        <p:spPr>
          <a:xfrm>
            <a:off x="768096" y="1810512"/>
            <a:ext cx="4846320" cy="64008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Automatically generates summaries, key points, and conclusions using AI</a:t>
            </a:r>
            <a:endParaRPr lang="en-US" sz="1250" dirty="0"/>
          </a:p>
        </p:txBody>
      </p:sp>
      <p:sp>
        <p:nvSpPr>
          <p:cNvPr id="7" name="Shape 5"/>
          <p:cNvSpPr/>
          <p:nvPr/>
        </p:nvSpPr>
        <p:spPr>
          <a:xfrm>
            <a:off x="457200" y="2596896"/>
            <a:ext cx="219456" cy="219456"/>
          </a:xfrm>
          <a:prstGeom prst="ellipse">
            <a:avLst/>
          </a:prstGeom>
          <a:solidFill>
            <a:srgbClr val="7C3AED"/>
          </a:solidFill>
          <a:ln w="12700">
            <a:solidFill>
              <a:srgbClr val="7C3AED"/>
            </a:solidFill>
            <a:prstDash val="solid"/>
          </a:ln>
        </p:spPr>
      </p:sp>
      <p:sp>
        <p:nvSpPr>
          <p:cNvPr id="8" name="Text 6"/>
          <p:cNvSpPr/>
          <p:nvPr/>
        </p:nvSpPr>
        <p:spPr>
          <a:xfrm>
            <a:off x="768096" y="2523744"/>
            <a:ext cx="4846320" cy="64008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Multi-language support: French and English (Darija planned)</a:t>
            </a:r>
            <a:endParaRPr lang="en-US" sz="1250" dirty="0"/>
          </a:p>
        </p:txBody>
      </p:sp>
      <p:sp>
        <p:nvSpPr>
          <p:cNvPr id="9" name="Shape 7"/>
          <p:cNvSpPr/>
          <p:nvPr/>
        </p:nvSpPr>
        <p:spPr>
          <a:xfrm>
            <a:off x="457200" y="3310128"/>
            <a:ext cx="219456" cy="219456"/>
          </a:xfrm>
          <a:prstGeom prst="ellipse">
            <a:avLst/>
          </a:prstGeom>
          <a:solidFill>
            <a:srgbClr val="7C3AED"/>
          </a:solidFill>
          <a:ln w="12700">
            <a:solidFill>
              <a:srgbClr val="7C3AED"/>
            </a:solidFill>
            <a:prstDash val="solid"/>
          </a:ln>
        </p:spPr>
      </p:sp>
      <p:sp>
        <p:nvSpPr>
          <p:cNvPr id="10" name="Text 8"/>
          <p:cNvSpPr/>
          <p:nvPr/>
        </p:nvSpPr>
        <p:spPr>
          <a:xfrm>
            <a:off x="768096" y="3236976"/>
            <a:ext cx="4846320" cy="64008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Three core roles: Standard Users, Pro/Business subscribers, and Admins</a:t>
            </a:r>
            <a:endParaRPr lang="en-US" sz="1250" dirty="0"/>
          </a:p>
        </p:txBody>
      </p:sp>
      <p:sp>
        <p:nvSpPr>
          <p:cNvPr id="11" name="Shape 9"/>
          <p:cNvSpPr/>
          <p:nvPr/>
        </p:nvSpPr>
        <p:spPr>
          <a:xfrm>
            <a:off x="457200" y="4023360"/>
            <a:ext cx="219456" cy="219456"/>
          </a:xfrm>
          <a:prstGeom prst="ellipse">
            <a:avLst/>
          </a:prstGeom>
          <a:solidFill>
            <a:srgbClr val="7C3AED"/>
          </a:solidFill>
          <a:ln w="12700">
            <a:solidFill>
              <a:srgbClr val="7C3AED"/>
            </a:solidFill>
            <a:prstDash val="solid"/>
          </a:ln>
        </p:spPr>
      </p:sp>
      <p:sp>
        <p:nvSpPr>
          <p:cNvPr id="12" name="Text 10"/>
          <p:cNvSpPr/>
          <p:nvPr/>
        </p:nvSpPr>
        <p:spPr>
          <a:xfrm>
            <a:off x="768096" y="3950208"/>
            <a:ext cx="4846320" cy="64008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Built for organizations and professionals to save time reviewing meeting recordings</a:t>
            </a:r>
            <a:endParaRPr lang="en-US" sz="1250" dirty="0"/>
          </a:p>
        </p:txBody>
      </p:sp>
      <p:sp>
        <p:nvSpPr>
          <p:cNvPr id="13" name="Shape 11"/>
          <p:cNvSpPr/>
          <p:nvPr/>
        </p:nvSpPr>
        <p:spPr>
          <a:xfrm>
            <a:off x="5943600" y="1097280"/>
            <a:ext cx="2743200" cy="3566160"/>
          </a:xfrm>
          <a:prstGeom prst="rect">
            <a:avLst/>
          </a:prstGeom>
          <a:solidFill>
            <a:srgbClr val="161B22"/>
          </a:solidFill>
          <a:ln w="9525">
            <a:solidFill>
              <a:srgbClr val="30363D"/>
            </a:solidFill>
            <a:prstDash val="solid"/>
          </a:ln>
        </p:spPr>
      </p:sp>
      <p:sp>
        <p:nvSpPr>
          <p:cNvPr id="14" name="Shape 12"/>
          <p:cNvSpPr/>
          <p:nvPr/>
        </p:nvSpPr>
        <p:spPr>
          <a:xfrm>
            <a:off x="5943600" y="1097280"/>
            <a:ext cx="45720" cy="3566160"/>
          </a:xfrm>
          <a:prstGeom prst="rect">
            <a:avLst/>
          </a:prstGeom>
          <a:solidFill>
            <a:srgbClr val="3B82F6"/>
          </a:solidFill>
          <a:ln w="12700">
            <a:solidFill>
              <a:srgbClr val="3B82F6"/>
            </a:solidFill>
            <a:prstDash val="solid"/>
          </a:ln>
        </p:spPr>
      </p:sp>
      <p:sp>
        <p:nvSpPr>
          <p:cNvPr id="15" name="Text 13"/>
          <p:cNvSpPr/>
          <p:nvPr/>
        </p:nvSpPr>
        <p:spPr>
          <a:xfrm>
            <a:off x="6035040" y="1170432"/>
            <a:ext cx="2606040" cy="219456"/>
          </a:xfrm>
          <a:prstGeom prst="rect">
            <a:avLst/>
          </a:prstGeom>
          <a:noFill/>
          <a:ln/>
        </p:spPr>
        <p:txBody>
          <a:bodyPr wrap="square" lIns="0" tIns="0" rIns="0" bIns="0" rtlCol="0" anchor="ctr"/>
          <a:lstStyle/>
          <a:p>
            <a:pPr marL="0" indent="0">
              <a:buNone/>
            </a:pPr>
            <a:r>
              <a:rPr lang="en-US" sz="900" b="1" kern="0" spc="200" dirty="0">
                <a:solidFill>
                  <a:srgbClr val="93C5FD"/>
                </a:solidFill>
                <a:latin typeface="Calibri" pitchFamily="34" charset="0"/>
                <a:ea typeface="Calibri" pitchFamily="34" charset="-122"/>
                <a:cs typeface="Calibri" pitchFamily="34" charset="-120"/>
              </a:rPr>
              <a:t>CORE VALUE</a:t>
            </a:r>
            <a:endParaRPr lang="en-US" sz="900" dirty="0"/>
          </a:p>
        </p:txBody>
      </p:sp>
      <p:sp>
        <p:nvSpPr>
          <p:cNvPr id="16" name="Text 14"/>
          <p:cNvSpPr/>
          <p:nvPr/>
        </p:nvSpPr>
        <p:spPr>
          <a:xfrm>
            <a:off x="6035040" y="1508760"/>
            <a:ext cx="2606040" cy="347472"/>
          </a:xfrm>
          <a:prstGeom prst="rect">
            <a:avLst/>
          </a:prstGeom>
          <a:noFill/>
          <a:ln/>
        </p:spPr>
        <p:txBody>
          <a:bodyPr wrap="square" lIns="0" tIns="0" rIns="0" bIns="0" rtlCol="0" anchor="ctr"/>
          <a:lstStyle/>
          <a:p>
            <a:pPr marL="0" indent="0" algn="ctr">
              <a:buNone/>
            </a:pPr>
            <a:r>
              <a:rPr lang="en-US" sz="1250" b="1" dirty="0">
                <a:solidFill>
                  <a:srgbClr val="F0F6FC"/>
                </a:solidFill>
                <a:latin typeface="Calibri" pitchFamily="34" charset="0"/>
                <a:ea typeface="Calibri" pitchFamily="34" charset="-122"/>
                <a:cs typeface="Calibri" pitchFamily="34" charset="-120"/>
              </a:rPr>
              <a:t>Upload recording</a:t>
            </a:r>
            <a:endParaRPr lang="en-US" sz="1250" dirty="0"/>
          </a:p>
        </p:txBody>
      </p:sp>
      <p:sp>
        <p:nvSpPr>
          <p:cNvPr id="17" name="Text 15"/>
          <p:cNvSpPr/>
          <p:nvPr/>
        </p:nvSpPr>
        <p:spPr>
          <a:xfrm>
            <a:off x="6035040" y="1856232"/>
            <a:ext cx="2606040" cy="256032"/>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6035040" y="2112264"/>
            <a:ext cx="2606040" cy="347472"/>
          </a:xfrm>
          <a:prstGeom prst="rect">
            <a:avLst/>
          </a:prstGeom>
          <a:noFill/>
          <a:ln/>
        </p:spPr>
        <p:txBody>
          <a:bodyPr wrap="square" lIns="0" tIns="0" rIns="0" bIns="0" rtlCol="0" anchor="ctr"/>
          <a:lstStyle/>
          <a:p>
            <a:pPr marL="0" indent="0" algn="ctr">
              <a:buNone/>
            </a:pPr>
            <a:r>
              <a:rPr lang="en-US" sz="1250" b="1" dirty="0">
                <a:solidFill>
                  <a:srgbClr val="F0F6FC"/>
                </a:solidFill>
                <a:latin typeface="Calibri" pitchFamily="34" charset="0"/>
                <a:ea typeface="Calibri" pitchFamily="34" charset="-122"/>
                <a:cs typeface="Calibri" pitchFamily="34" charset="-120"/>
              </a:rPr>
              <a:t>AI transcribes it</a:t>
            </a:r>
            <a:endParaRPr lang="en-US" sz="1250" dirty="0"/>
          </a:p>
        </p:txBody>
      </p:sp>
      <p:sp>
        <p:nvSpPr>
          <p:cNvPr id="19" name="Text 17"/>
          <p:cNvSpPr/>
          <p:nvPr/>
        </p:nvSpPr>
        <p:spPr>
          <a:xfrm>
            <a:off x="6035040" y="2459736"/>
            <a:ext cx="2606040" cy="256032"/>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6035040" y="2715768"/>
            <a:ext cx="2606040" cy="347472"/>
          </a:xfrm>
          <a:prstGeom prst="rect">
            <a:avLst/>
          </a:prstGeom>
          <a:noFill/>
          <a:ln/>
        </p:spPr>
        <p:txBody>
          <a:bodyPr wrap="square" lIns="0" tIns="0" rIns="0" bIns="0" rtlCol="0" anchor="ctr"/>
          <a:lstStyle/>
          <a:p>
            <a:pPr marL="0" indent="0" algn="ctr">
              <a:buNone/>
            </a:pPr>
            <a:r>
              <a:rPr lang="en-US" sz="1250" b="1" dirty="0">
                <a:solidFill>
                  <a:srgbClr val="F0F6FC"/>
                </a:solidFill>
                <a:latin typeface="Calibri" pitchFamily="34" charset="0"/>
                <a:ea typeface="Calibri" pitchFamily="34" charset="-122"/>
                <a:cs typeface="Calibri" pitchFamily="34" charset="-120"/>
              </a:rPr>
              <a:t>Structured summary</a:t>
            </a:r>
            <a:endParaRPr lang="en-US" sz="1250" dirty="0"/>
          </a:p>
        </p:txBody>
      </p:sp>
      <p:sp>
        <p:nvSpPr>
          <p:cNvPr id="21" name="Text 19"/>
          <p:cNvSpPr/>
          <p:nvPr/>
        </p:nvSpPr>
        <p:spPr>
          <a:xfrm>
            <a:off x="6035040" y="3063240"/>
            <a:ext cx="2606040" cy="256032"/>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6035040" y="3319272"/>
            <a:ext cx="2606040" cy="347472"/>
          </a:xfrm>
          <a:prstGeom prst="rect">
            <a:avLst/>
          </a:prstGeom>
          <a:noFill/>
          <a:ln/>
        </p:spPr>
        <p:txBody>
          <a:bodyPr wrap="square" lIns="0" tIns="0" rIns="0" bIns="0" rtlCol="0" anchor="ctr"/>
          <a:lstStyle/>
          <a:p>
            <a:pPr marL="0" indent="0" algn="ctr">
              <a:buNone/>
            </a:pPr>
            <a:r>
              <a:rPr lang="en-US" sz="1250" i="1" dirty="0">
                <a:solidFill>
                  <a:srgbClr val="8B949E"/>
                </a:solidFill>
                <a:latin typeface="Calibri" pitchFamily="34" charset="0"/>
                <a:ea typeface="Calibri" pitchFamily="34" charset="-122"/>
                <a:cs typeface="Calibri" pitchFamily="34" charset="-120"/>
              </a:rPr>
              <a:t>In minutes, automatically.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Technology Stack</a:t>
            </a:r>
            <a:endParaRPr lang="en-US" sz="3400" dirty="0"/>
          </a:p>
        </p:txBody>
      </p:sp>
      <p:sp>
        <p:nvSpPr>
          <p:cNvPr id="3" name="Shape 1"/>
          <p:cNvSpPr/>
          <p:nvPr/>
        </p:nvSpPr>
        <p:spPr>
          <a:xfrm>
            <a:off x="457200" y="1005840"/>
            <a:ext cx="2651760" cy="3749040"/>
          </a:xfrm>
          <a:prstGeom prst="rect">
            <a:avLst/>
          </a:prstGeom>
          <a:solidFill>
            <a:srgbClr val="161B22"/>
          </a:solidFill>
          <a:ln w="12700">
            <a:solidFill>
              <a:srgbClr val="3B82F6"/>
            </a:solidFill>
            <a:prstDash val="solid"/>
          </a:ln>
        </p:spPr>
      </p:sp>
      <p:sp>
        <p:nvSpPr>
          <p:cNvPr id="4" name="Shape 2"/>
          <p:cNvSpPr/>
          <p:nvPr/>
        </p:nvSpPr>
        <p:spPr>
          <a:xfrm>
            <a:off x="1463040" y="1188720"/>
            <a:ext cx="640080" cy="640080"/>
          </a:xfrm>
          <a:prstGeom prst="ellipse">
            <a:avLst/>
          </a:prstGeom>
          <a:solidFill>
            <a:srgbClr val="3B82F6">
              <a:alpha val="20000"/>
            </a:srgbClr>
          </a:solidFill>
          <a:ln w="12700">
            <a:solidFill>
              <a:srgbClr val="3B82F6"/>
            </a:solidFill>
            <a:prstDash val="solid"/>
          </a:ln>
        </p:spPr>
      </p:sp>
      <p:pic>
        <p:nvPicPr>
          <p:cNvPr id="5" name="Image 0" descr="preencoded.png"/>
          <p:cNvPicPr>
            <a:picLocks noChangeAspect="1"/>
          </p:cNvPicPr>
          <p:nvPr/>
        </p:nvPicPr>
        <p:blipFill>
          <a:blip r:embed="rId3"/>
          <a:stretch>
            <a:fillRect/>
          </a:stretch>
        </p:blipFill>
        <p:spPr>
          <a:xfrm>
            <a:off x="1581912" y="1252728"/>
            <a:ext cx="402336" cy="402336"/>
          </a:xfrm>
          <a:prstGeom prst="rect">
            <a:avLst/>
          </a:prstGeom>
        </p:spPr>
      </p:pic>
      <p:sp>
        <p:nvSpPr>
          <p:cNvPr id="6" name="Text 3"/>
          <p:cNvSpPr/>
          <p:nvPr/>
        </p:nvSpPr>
        <p:spPr>
          <a:xfrm>
            <a:off x="457200" y="1938528"/>
            <a:ext cx="2651760" cy="310896"/>
          </a:xfrm>
          <a:prstGeom prst="rect">
            <a:avLst/>
          </a:prstGeom>
          <a:noFill/>
          <a:ln/>
        </p:spPr>
        <p:txBody>
          <a:bodyPr wrap="square" lIns="0" tIns="0" rIns="0" bIns="0" rtlCol="0" anchor="ctr"/>
          <a:lstStyle/>
          <a:p>
            <a:pPr marL="0" indent="0" algn="ctr">
              <a:buNone/>
            </a:pPr>
            <a:r>
              <a:rPr lang="en-US" sz="1500" b="1" dirty="0">
                <a:solidFill>
                  <a:srgbClr val="F0F6FC"/>
                </a:solidFill>
                <a:latin typeface="Georgia" pitchFamily="34" charset="0"/>
                <a:ea typeface="Georgia" pitchFamily="34" charset="-122"/>
                <a:cs typeface="Georgia" pitchFamily="34" charset="-120"/>
              </a:rPr>
              <a:t>Frontend</a:t>
            </a:r>
            <a:endParaRPr lang="en-US" sz="1500" dirty="0"/>
          </a:p>
        </p:txBody>
      </p:sp>
      <p:sp>
        <p:nvSpPr>
          <p:cNvPr id="7" name="Text 4"/>
          <p:cNvSpPr/>
          <p:nvPr/>
        </p:nvSpPr>
        <p:spPr>
          <a:xfrm>
            <a:off x="621792" y="2304288"/>
            <a:ext cx="2377440" cy="2331720"/>
          </a:xfrm>
          <a:prstGeom prst="rect">
            <a:avLst/>
          </a:prstGeom>
          <a:noFill/>
          <a:ln/>
        </p:spPr>
        <p:txBody>
          <a:bodyPr wrap="square" lIns="0" tIns="50800" rIns="0" bIns="0" rtlCol="0" anchor="t"/>
          <a:lstStyle/>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React 19 + TypeScript</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Vite 8 build tool</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Framer Motion animations</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Stripe.js for payments</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NEXUS dark design system</a:t>
            </a:r>
            <a:endParaRPr lang="en-US" sz="1150" dirty="0"/>
          </a:p>
        </p:txBody>
      </p:sp>
      <p:sp>
        <p:nvSpPr>
          <p:cNvPr id="8" name="Shape 5"/>
          <p:cNvSpPr/>
          <p:nvPr/>
        </p:nvSpPr>
        <p:spPr>
          <a:xfrm>
            <a:off x="3246120" y="1005840"/>
            <a:ext cx="2651760" cy="3749040"/>
          </a:xfrm>
          <a:prstGeom prst="rect">
            <a:avLst/>
          </a:prstGeom>
          <a:solidFill>
            <a:srgbClr val="161B22"/>
          </a:solidFill>
          <a:ln w="12700">
            <a:solidFill>
              <a:srgbClr val="7C3AED"/>
            </a:solidFill>
            <a:prstDash val="solid"/>
          </a:ln>
        </p:spPr>
      </p:sp>
      <p:sp>
        <p:nvSpPr>
          <p:cNvPr id="9" name="Shape 6"/>
          <p:cNvSpPr/>
          <p:nvPr/>
        </p:nvSpPr>
        <p:spPr>
          <a:xfrm>
            <a:off x="4251960" y="1188720"/>
            <a:ext cx="640080" cy="640080"/>
          </a:xfrm>
          <a:prstGeom prst="ellipse">
            <a:avLst/>
          </a:prstGeom>
          <a:solidFill>
            <a:srgbClr val="7C3AED">
              <a:alpha val="20000"/>
            </a:srgbClr>
          </a:solidFill>
          <a:ln w="12700">
            <a:solidFill>
              <a:srgbClr val="7C3AED"/>
            </a:solidFill>
            <a:prstDash val="solid"/>
          </a:ln>
        </p:spPr>
      </p:sp>
      <p:pic>
        <p:nvPicPr>
          <p:cNvPr id="10" name="Image 1" descr="preencoded.png"/>
          <p:cNvPicPr>
            <a:picLocks noChangeAspect="1"/>
          </p:cNvPicPr>
          <p:nvPr/>
        </p:nvPicPr>
        <p:blipFill>
          <a:blip r:embed="rId4"/>
          <a:stretch>
            <a:fillRect/>
          </a:stretch>
        </p:blipFill>
        <p:spPr>
          <a:xfrm>
            <a:off x="4370832" y="1252728"/>
            <a:ext cx="402336" cy="402336"/>
          </a:xfrm>
          <a:prstGeom prst="rect">
            <a:avLst/>
          </a:prstGeom>
        </p:spPr>
      </p:pic>
      <p:sp>
        <p:nvSpPr>
          <p:cNvPr id="11" name="Text 7"/>
          <p:cNvSpPr/>
          <p:nvPr/>
        </p:nvSpPr>
        <p:spPr>
          <a:xfrm>
            <a:off x="3246120" y="1938528"/>
            <a:ext cx="2651760" cy="310896"/>
          </a:xfrm>
          <a:prstGeom prst="rect">
            <a:avLst/>
          </a:prstGeom>
          <a:noFill/>
          <a:ln/>
        </p:spPr>
        <p:txBody>
          <a:bodyPr wrap="square" lIns="0" tIns="0" rIns="0" bIns="0" rtlCol="0" anchor="ctr"/>
          <a:lstStyle/>
          <a:p>
            <a:pPr marL="0" indent="0" algn="ctr">
              <a:buNone/>
            </a:pPr>
            <a:r>
              <a:rPr lang="en-US" sz="1500" b="1" dirty="0">
                <a:solidFill>
                  <a:srgbClr val="F0F6FC"/>
                </a:solidFill>
                <a:latin typeface="Georgia" pitchFamily="34" charset="0"/>
                <a:ea typeface="Georgia" pitchFamily="34" charset="-122"/>
                <a:cs typeface="Georgia" pitchFamily="34" charset="-120"/>
              </a:rPr>
              <a:t>Backend API</a:t>
            </a:r>
            <a:endParaRPr lang="en-US" sz="1500" dirty="0"/>
          </a:p>
        </p:txBody>
      </p:sp>
      <p:sp>
        <p:nvSpPr>
          <p:cNvPr id="12" name="Text 8"/>
          <p:cNvSpPr/>
          <p:nvPr/>
        </p:nvSpPr>
        <p:spPr>
          <a:xfrm>
            <a:off x="3410712" y="2304288"/>
            <a:ext cx="2377440" cy="2331720"/>
          </a:xfrm>
          <a:prstGeom prst="rect">
            <a:avLst/>
          </a:prstGeom>
          <a:noFill/>
          <a:ln/>
        </p:spPr>
        <p:txBody>
          <a:bodyPr wrap="square" lIns="0" tIns="50800" rIns="0" bIns="0" rtlCol="0" anchor="t"/>
          <a:lstStyle/>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FastAPI (Python 3.14)</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SQLAlchemy 2.0 ORM</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JWT authentication</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Stripe SDK + webhooks</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slowapi rate limiting</a:t>
            </a:r>
            <a:endParaRPr lang="en-US" sz="1150" dirty="0"/>
          </a:p>
        </p:txBody>
      </p:sp>
      <p:sp>
        <p:nvSpPr>
          <p:cNvPr id="13" name="Shape 9"/>
          <p:cNvSpPr/>
          <p:nvPr/>
        </p:nvSpPr>
        <p:spPr>
          <a:xfrm>
            <a:off x="6035040" y="1005840"/>
            <a:ext cx="2651760" cy="3749040"/>
          </a:xfrm>
          <a:prstGeom prst="rect">
            <a:avLst/>
          </a:prstGeom>
          <a:solidFill>
            <a:srgbClr val="161B22"/>
          </a:solidFill>
          <a:ln w="12700">
            <a:solidFill>
              <a:srgbClr val="10B981"/>
            </a:solidFill>
            <a:prstDash val="solid"/>
          </a:ln>
        </p:spPr>
      </p:sp>
      <p:sp>
        <p:nvSpPr>
          <p:cNvPr id="14" name="Shape 10"/>
          <p:cNvSpPr/>
          <p:nvPr/>
        </p:nvSpPr>
        <p:spPr>
          <a:xfrm>
            <a:off x="7040880" y="1188720"/>
            <a:ext cx="640080" cy="640080"/>
          </a:xfrm>
          <a:prstGeom prst="ellipse">
            <a:avLst/>
          </a:prstGeom>
          <a:solidFill>
            <a:srgbClr val="10B981">
              <a:alpha val="20000"/>
            </a:srgbClr>
          </a:solidFill>
          <a:ln w="12700">
            <a:solidFill>
              <a:srgbClr val="10B981"/>
            </a:solidFill>
            <a:prstDash val="solid"/>
          </a:ln>
        </p:spPr>
      </p:sp>
      <p:pic>
        <p:nvPicPr>
          <p:cNvPr id="15" name="Image 2" descr="preencoded.png"/>
          <p:cNvPicPr>
            <a:picLocks noChangeAspect="1"/>
          </p:cNvPicPr>
          <p:nvPr/>
        </p:nvPicPr>
        <p:blipFill>
          <a:blip r:embed="rId5"/>
          <a:stretch>
            <a:fillRect/>
          </a:stretch>
        </p:blipFill>
        <p:spPr>
          <a:xfrm>
            <a:off x="7159752" y="1252728"/>
            <a:ext cx="402336" cy="402336"/>
          </a:xfrm>
          <a:prstGeom prst="rect">
            <a:avLst/>
          </a:prstGeom>
        </p:spPr>
      </p:pic>
      <p:sp>
        <p:nvSpPr>
          <p:cNvPr id="16" name="Text 11"/>
          <p:cNvSpPr/>
          <p:nvPr/>
        </p:nvSpPr>
        <p:spPr>
          <a:xfrm>
            <a:off x="6035040" y="1938528"/>
            <a:ext cx="2651760" cy="310896"/>
          </a:xfrm>
          <a:prstGeom prst="rect">
            <a:avLst/>
          </a:prstGeom>
          <a:noFill/>
          <a:ln/>
        </p:spPr>
        <p:txBody>
          <a:bodyPr wrap="square" lIns="0" tIns="0" rIns="0" bIns="0" rtlCol="0" anchor="ctr"/>
          <a:lstStyle/>
          <a:p>
            <a:pPr marL="0" indent="0" algn="ctr">
              <a:buNone/>
            </a:pPr>
            <a:r>
              <a:rPr lang="en-US" sz="1500" b="1" dirty="0">
                <a:solidFill>
                  <a:srgbClr val="F0F6FC"/>
                </a:solidFill>
                <a:latin typeface="Georgia" pitchFamily="34" charset="0"/>
                <a:ea typeface="Georgia" pitchFamily="34" charset="-122"/>
                <a:cs typeface="Georgia" pitchFamily="34" charset="-120"/>
              </a:rPr>
              <a:t>AI Service</a:t>
            </a:r>
            <a:endParaRPr lang="en-US" sz="1500" dirty="0"/>
          </a:p>
        </p:txBody>
      </p:sp>
      <p:sp>
        <p:nvSpPr>
          <p:cNvPr id="17" name="Text 12"/>
          <p:cNvSpPr/>
          <p:nvPr/>
        </p:nvSpPr>
        <p:spPr>
          <a:xfrm>
            <a:off x="6199632" y="2304288"/>
            <a:ext cx="2377440" cy="2331720"/>
          </a:xfrm>
          <a:prstGeom prst="rect">
            <a:avLst/>
          </a:prstGeom>
          <a:noFill/>
          <a:ln/>
        </p:spPr>
        <p:txBody>
          <a:bodyPr wrap="square" lIns="0" tIns="50800" rIns="0" bIns="0" rtlCol="0" anchor="t"/>
          <a:lstStyle/>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FastAPI (Python 3.10)</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faster-whisper medium</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Groq API — LLaMA 3.3 70B</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FFmpeg audio processing</a:t>
            </a:r>
            <a:endParaRPr lang="en-US" sz="1150" dirty="0"/>
          </a:p>
          <a:p>
            <a:pPr marL="177800" indent="-177800">
              <a:spcAft>
                <a:spcPts val="700"/>
              </a:spcAft>
              <a:buSzPct val="100000"/>
              <a:buChar char="•"/>
            </a:pPr>
            <a:r>
              <a:rPr lang="en-US" sz="1150" dirty="0">
                <a:solidFill>
                  <a:srgbClr val="F0F6FC"/>
                </a:solidFill>
                <a:latin typeface="Calibri" pitchFamily="34" charset="0"/>
                <a:ea typeface="Calibri" pitchFamily="34" charset="-122"/>
                <a:cs typeface="Calibri" pitchFamily="34" charset="-120"/>
              </a:rPr>
              <a:t>pdfplumber PDF extraction</a:t>
            </a:r>
            <a:endParaRPr lang="en-US" sz="1150" dirty="0"/>
          </a:p>
        </p:txBody>
      </p:sp>
      <p:sp>
        <p:nvSpPr>
          <p:cNvPr id="18" name="Text 13"/>
          <p:cNvSpPr/>
          <p:nvPr/>
        </p:nvSpPr>
        <p:spPr>
          <a:xfrm>
            <a:off x="457200" y="4828032"/>
            <a:ext cx="8229600" cy="201168"/>
          </a:xfrm>
          <a:prstGeom prst="rect">
            <a:avLst/>
          </a:prstGeom>
          <a:noFill/>
          <a:ln/>
        </p:spPr>
        <p:txBody>
          <a:bodyPr wrap="square" lIns="0" tIns="0" rIns="0" bIns="0" rtlCol="0" anchor="ctr"/>
          <a:lstStyle/>
          <a:p>
            <a:pPr marL="0" indent="0" algn="ctr">
              <a:buNone/>
            </a:pPr>
            <a:r>
              <a:rPr lang="en-US" sz="1050" dirty="0">
                <a:solidFill>
                  <a:srgbClr val="8B949E"/>
                </a:solidFill>
                <a:latin typeface="Calibri" pitchFamily="34" charset="0"/>
                <a:ea typeface="Calibri" pitchFamily="34" charset="-122"/>
                <a:cs typeface="Calibri" pitchFamily="34" charset="-120"/>
              </a:rPr>
              <a:t>Database:  SQLite (development)  →  PostgreSQL (production target)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Three-Service Architecture</a:t>
            </a:r>
            <a:endParaRPr lang="en-US" sz="3400" dirty="0"/>
          </a:p>
        </p:txBody>
      </p:sp>
      <p:sp>
        <p:nvSpPr>
          <p:cNvPr id="3" name="Shape 1"/>
          <p:cNvSpPr/>
          <p:nvPr/>
        </p:nvSpPr>
        <p:spPr>
          <a:xfrm>
            <a:off x="457200" y="1024128"/>
            <a:ext cx="2468880" cy="960120"/>
          </a:xfrm>
          <a:prstGeom prst="rect">
            <a:avLst/>
          </a:prstGeom>
          <a:solidFill>
            <a:srgbClr val="161B22"/>
          </a:solidFill>
          <a:ln w="19050">
            <a:solidFill>
              <a:srgbClr val="3B82F6"/>
            </a:solidFill>
            <a:prstDash val="solid"/>
          </a:ln>
        </p:spPr>
      </p:sp>
      <p:sp>
        <p:nvSpPr>
          <p:cNvPr id="4" name="Shape 2"/>
          <p:cNvSpPr/>
          <p:nvPr/>
        </p:nvSpPr>
        <p:spPr>
          <a:xfrm>
            <a:off x="457200" y="1024128"/>
            <a:ext cx="2468880" cy="54864"/>
          </a:xfrm>
          <a:prstGeom prst="rect">
            <a:avLst/>
          </a:prstGeom>
          <a:solidFill>
            <a:srgbClr val="3B82F6"/>
          </a:solidFill>
          <a:ln w="12700">
            <a:solidFill>
              <a:srgbClr val="3B82F6"/>
            </a:solidFill>
            <a:prstDash val="solid"/>
          </a:ln>
        </p:spPr>
      </p:sp>
      <p:sp>
        <p:nvSpPr>
          <p:cNvPr id="5" name="Text 3"/>
          <p:cNvSpPr/>
          <p:nvPr/>
        </p:nvSpPr>
        <p:spPr>
          <a:xfrm>
            <a:off x="457200" y="1133856"/>
            <a:ext cx="2468880" cy="274320"/>
          </a:xfrm>
          <a:prstGeom prst="rect">
            <a:avLst/>
          </a:prstGeom>
          <a:noFill/>
          <a:ln/>
        </p:spPr>
        <p:txBody>
          <a:bodyPr wrap="square" lIns="0" tIns="0" rIns="0" bIns="0" rtlCol="0" anchor="ctr"/>
          <a:lstStyle/>
          <a:p>
            <a:pPr marL="0" indent="0" algn="ctr">
              <a:buNone/>
            </a:pPr>
            <a:r>
              <a:rPr lang="en-US" sz="1300" b="1" dirty="0">
                <a:solidFill>
                  <a:srgbClr val="F0F6FC"/>
                </a:solidFill>
                <a:latin typeface="Georgia" pitchFamily="34" charset="0"/>
                <a:ea typeface="Georgia" pitchFamily="34" charset="-122"/>
                <a:cs typeface="Georgia" pitchFamily="34" charset="-120"/>
              </a:rPr>
              <a:t>Frontend</a:t>
            </a:r>
            <a:endParaRPr lang="en-US" sz="1300" dirty="0"/>
          </a:p>
        </p:txBody>
      </p:sp>
      <p:sp>
        <p:nvSpPr>
          <p:cNvPr id="6" name="Text 4"/>
          <p:cNvSpPr/>
          <p:nvPr/>
        </p:nvSpPr>
        <p:spPr>
          <a:xfrm>
            <a:off x="457200" y="1426464"/>
            <a:ext cx="2468880" cy="219456"/>
          </a:xfrm>
          <a:prstGeom prst="rect">
            <a:avLst/>
          </a:prstGeom>
          <a:noFill/>
          <a:ln/>
        </p:spPr>
        <p:txBody>
          <a:bodyPr wrap="square" lIns="0" tIns="0" rIns="0" bIns="0" rtlCol="0" anchor="ctr"/>
          <a:lstStyle/>
          <a:p>
            <a:pPr marL="0" indent="0" algn="ctr">
              <a:buNone/>
            </a:pPr>
            <a:r>
              <a:rPr lang="en-US" sz="1100" dirty="0">
                <a:solidFill>
                  <a:srgbClr val="8B949E"/>
                </a:solidFill>
                <a:latin typeface="Calibri" pitchFamily="34" charset="0"/>
                <a:ea typeface="Calibri" pitchFamily="34" charset="-122"/>
                <a:cs typeface="Calibri" pitchFamily="34" charset="-120"/>
              </a:rPr>
              <a:t>React + TypeScript</a:t>
            </a:r>
            <a:endParaRPr lang="en-US" sz="1100" dirty="0"/>
          </a:p>
        </p:txBody>
      </p:sp>
      <p:sp>
        <p:nvSpPr>
          <p:cNvPr id="7" name="Text 5"/>
          <p:cNvSpPr/>
          <p:nvPr/>
        </p:nvSpPr>
        <p:spPr>
          <a:xfrm>
            <a:off x="457200" y="1645920"/>
            <a:ext cx="2468880" cy="256032"/>
          </a:xfrm>
          <a:prstGeom prst="rect">
            <a:avLst/>
          </a:prstGeom>
          <a:noFill/>
          <a:ln/>
        </p:spPr>
        <p:txBody>
          <a:bodyPr wrap="square" lIns="0" tIns="0" rIns="0" bIns="0"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:5173</a:t>
            </a:r>
            <a:endParaRPr lang="en-US" sz="1300" dirty="0"/>
          </a:p>
        </p:txBody>
      </p:sp>
      <p:sp>
        <p:nvSpPr>
          <p:cNvPr id="8" name="Shape 6"/>
          <p:cNvSpPr/>
          <p:nvPr/>
        </p:nvSpPr>
        <p:spPr>
          <a:xfrm>
            <a:off x="3337560" y="1024128"/>
            <a:ext cx="2468880" cy="960120"/>
          </a:xfrm>
          <a:prstGeom prst="rect">
            <a:avLst/>
          </a:prstGeom>
          <a:solidFill>
            <a:srgbClr val="161B22"/>
          </a:solidFill>
          <a:ln w="19050">
            <a:solidFill>
              <a:srgbClr val="7C3AED"/>
            </a:solidFill>
            <a:prstDash val="solid"/>
          </a:ln>
        </p:spPr>
      </p:sp>
      <p:sp>
        <p:nvSpPr>
          <p:cNvPr id="9" name="Shape 7"/>
          <p:cNvSpPr/>
          <p:nvPr/>
        </p:nvSpPr>
        <p:spPr>
          <a:xfrm>
            <a:off x="3337560" y="1024128"/>
            <a:ext cx="2468880" cy="54864"/>
          </a:xfrm>
          <a:prstGeom prst="rect">
            <a:avLst/>
          </a:prstGeom>
          <a:solidFill>
            <a:srgbClr val="7C3AED"/>
          </a:solidFill>
          <a:ln w="12700">
            <a:solidFill>
              <a:srgbClr val="7C3AED"/>
            </a:solidFill>
            <a:prstDash val="solid"/>
          </a:ln>
        </p:spPr>
      </p:sp>
      <p:sp>
        <p:nvSpPr>
          <p:cNvPr id="10" name="Text 8"/>
          <p:cNvSpPr/>
          <p:nvPr/>
        </p:nvSpPr>
        <p:spPr>
          <a:xfrm>
            <a:off x="3337560" y="1133856"/>
            <a:ext cx="2468880" cy="274320"/>
          </a:xfrm>
          <a:prstGeom prst="rect">
            <a:avLst/>
          </a:prstGeom>
          <a:noFill/>
          <a:ln/>
        </p:spPr>
        <p:txBody>
          <a:bodyPr wrap="square" lIns="0" tIns="0" rIns="0" bIns="0" rtlCol="0" anchor="ctr"/>
          <a:lstStyle/>
          <a:p>
            <a:pPr marL="0" indent="0" algn="ctr">
              <a:buNone/>
            </a:pPr>
            <a:r>
              <a:rPr lang="en-US" sz="1300" b="1" dirty="0">
                <a:solidFill>
                  <a:srgbClr val="F0F6FC"/>
                </a:solidFill>
                <a:latin typeface="Georgia" pitchFamily="34" charset="0"/>
                <a:ea typeface="Georgia" pitchFamily="34" charset="-122"/>
                <a:cs typeface="Georgia" pitchFamily="34" charset="-120"/>
              </a:rPr>
              <a:t>Backend API</a:t>
            </a:r>
            <a:endParaRPr lang="en-US" sz="1300" dirty="0"/>
          </a:p>
        </p:txBody>
      </p:sp>
      <p:sp>
        <p:nvSpPr>
          <p:cNvPr id="11" name="Text 9"/>
          <p:cNvSpPr/>
          <p:nvPr/>
        </p:nvSpPr>
        <p:spPr>
          <a:xfrm>
            <a:off x="3337560" y="1426464"/>
            <a:ext cx="2468880" cy="219456"/>
          </a:xfrm>
          <a:prstGeom prst="rect">
            <a:avLst/>
          </a:prstGeom>
          <a:noFill/>
          <a:ln/>
        </p:spPr>
        <p:txBody>
          <a:bodyPr wrap="square" lIns="0" tIns="0" rIns="0" bIns="0" rtlCol="0" anchor="ctr"/>
          <a:lstStyle/>
          <a:p>
            <a:pPr marL="0" indent="0" algn="ctr">
              <a:buNone/>
            </a:pPr>
            <a:r>
              <a:rPr lang="en-US" sz="1100" dirty="0">
                <a:solidFill>
                  <a:srgbClr val="8B949E"/>
                </a:solidFill>
                <a:latin typeface="Calibri" pitchFamily="34" charset="0"/>
                <a:ea typeface="Calibri" pitchFamily="34" charset="-122"/>
                <a:cs typeface="Calibri" pitchFamily="34" charset="-120"/>
              </a:rPr>
              <a:t>FastAPI Python</a:t>
            </a:r>
            <a:endParaRPr lang="en-US" sz="1100" dirty="0"/>
          </a:p>
        </p:txBody>
      </p:sp>
      <p:sp>
        <p:nvSpPr>
          <p:cNvPr id="12" name="Text 10"/>
          <p:cNvSpPr/>
          <p:nvPr/>
        </p:nvSpPr>
        <p:spPr>
          <a:xfrm>
            <a:off x="3337560" y="1645920"/>
            <a:ext cx="2468880" cy="256032"/>
          </a:xfrm>
          <a:prstGeom prst="rect">
            <a:avLst/>
          </a:prstGeom>
          <a:noFill/>
          <a:ln/>
        </p:spPr>
        <p:txBody>
          <a:bodyPr wrap="square" lIns="0" tIns="0" rIns="0" bIns="0" rtlCol="0" anchor="ctr"/>
          <a:lstStyle/>
          <a:p>
            <a:pPr marL="0" indent="0" algn="ctr">
              <a:buNone/>
            </a:pPr>
            <a:r>
              <a:rPr lang="en-US" sz="1300" b="1" dirty="0">
                <a:solidFill>
                  <a:srgbClr val="7C3AED"/>
                </a:solidFill>
                <a:latin typeface="Calibri" pitchFamily="34" charset="0"/>
                <a:ea typeface="Calibri" pitchFamily="34" charset="-122"/>
                <a:cs typeface="Calibri" pitchFamily="34" charset="-120"/>
              </a:rPr>
              <a:t>:8080</a:t>
            </a:r>
            <a:endParaRPr lang="en-US" sz="1300" dirty="0"/>
          </a:p>
        </p:txBody>
      </p:sp>
      <p:sp>
        <p:nvSpPr>
          <p:cNvPr id="13" name="Shape 11"/>
          <p:cNvSpPr/>
          <p:nvPr/>
        </p:nvSpPr>
        <p:spPr>
          <a:xfrm>
            <a:off x="6217920" y="1024128"/>
            <a:ext cx="2468880" cy="960120"/>
          </a:xfrm>
          <a:prstGeom prst="rect">
            <a:avLst/>
          </a:prstGeom>
          <a:solidFill>
            <a:srgbClr val="161B22"/>
          </a:solidFill>
          <a:ln w="19050">
            <a:solidFill>
              <a:srgbClr val="10B981"/>
            </a:solidFill>
            <a:prstDash val="solid"/>
          </a:ln>
        </p:spPr>
      </p:sp>
      <p:sp>
        <p:nvSpPr>
          <p:cNvPr id="14" name="Shape 12"/>
          <p:cNvSpPr/>
          <p:nvPr/>
        </p:nvSpPr>
        <p:spPr>
          <a:xfrm>
            <a:off x="6217920" y="1024128"/>
            <a:ext cx="2468880" cy="54864"/>
          </a:xfrm>
          <a:prstGeom prst="rect">
            <a:avLst/>
          </a:prstGeom>
          <a:solidFill>
            <a:srgbClr val="10B981"/>
          </a:solidFill>
          <a:ln w="12700">
            <a:solidFill>
              <a:srgbClr val="10B981"/>
            </a:solidFill>
            <a:prstDash val="solid"/>
          </a:ln>
        </p:spPr>
      </p:sp>
      <p:sp>
        <p:nvSpPr>
          <p:cNvPr id="15" name="Text 13"/>
          <p:cNvSpPr/>
          <p:nvPr/>
        </p:nvSpPr>
        <p:spPr>
          <a:xfrm>
            <a:off x="6217920" y="1133856"/>
            <a:ext cx="2468880" cy="274320"/>
          </a:xfrm>
          <a:prstGeom prst="rect">
            <a:avLst/>
          </a:prstGeom>
          <a:noFill/>
          <a:ln/>
        </p:spPr>
        <p:txBody>
          <a:bodyPr wrap="square" lIns="0" tIns="0" rIns="0" bIns="0" rtlCol="0" anchor="ctr"/>
          <a:lstStyle/>
          <a:p>
            <a:pPr marL="0" indent="0" algn="ctr">
              <a:buNone/>
            </a:pPr>
            <a:r>
              <a:rPr lang="en-US" sz="1300" b="1" dirty="0">
                <a:solidFill>
                  <a:srgbClr val="F0F6FC"/>
                </a:solidFill>
                <a:latin typeface="Georgia" pitchFamily="34" charset="0"/>
                <a:ea typeface="Georgia" pitchFamily="34" charset="-122"/>
                <a:cs typeface="Georgia" pitchFamily="34" charset="-120"/>
              </a:rPr>
              <a:t>AI Service</a:t>
            </a:r>
            <a:endParaRPr lang="en-US" sz="1300" dirty="0"/>
          </a:p>
        </p:txBody>
      </p:sp>
      <p:sp>
        <p:nvSpPr>
          <p:cNvPr id="16" name="Text 14"/>
          <p:cNvSpPr/>
          <p:nvPr/>
        </p:nvSpPr>
        <p:spPr>
          <a:xfrm>
            <a:off x="6217920" y="1426464"/>
            <a:ext cx="2468880" cy="219456"/>
          </a:xfrm>
          <a:prstGeom prst="rect">
            <a:avLst/>
          </a:prstGeom>
          <a:noFill/>
          <a:ln/>
        </p:spPr>
        <p:txBody>
          <a:bodyPr wrap="square" lIns="0" tIns="0" rIns="0" bIns="0" rtlCol="0" anchor="ctr"/>
          <a:lstStyle/>
          <a:p>
            <a:pPr marL="0" indent="0" algn="ctr">
              <a:buNone/>
            </a:pPr>
            <a:r>
              <a:rPr lang="en-US" sz="1100" dirty="0">
                <a:solidFill>
                  <a:srgbClr val="8B949E"/>
                </a:solidFill>
                <a:latin typeface="Calibri" pitchFamily="34" charset="0"/>
                <a:ea typeface="Calibri" pitchFamily="34" charset="-122"/>
                <a:cs typeface="Calibri" pitchFamily="34" charset="-120"/>
              </a:rPr>
              <a:t>Whisper + Groq LLM</a:t>
            </a:r>
            <a:endParaRPr lang="en-US" sz="1100" dirty="0"/>
          </a:p>
        </p:txBody>
      </p:sp>
      <p:sp>
        <p:nvSpPr>
          <p:cNvPr id="17" name="Text 15"/>
          <p:cNvSpPr/>
          <p:nvPr/>
        </p:nvSpPr>
        <p:spPr>
          <a:xfrm>
            <a:off x="6217920" y="1645920"/>
            <a:ext cx="2468880" cy="256032"/>
          </a:xfrm>
          <a:prstGeom prst="rect">
            <a:avLst/>
          </a:prstGeom>
          <a:noFill/>
          <a:ln/>
        </p:spPr>
        <p:txBody>
          <a:bodyPr wrap="square" lIns="0" tIns="0" rIns="0" bIns="0" rtlCol="0" anchor="ctr"/>
          <a:lstStyle/>
          <a:p>
            <a:pPr marL="0" indent="0" algn="ctr">
              <a:buNone/>
            </a:pPr>
            <a:r>
              <a:rPr lang="en-US" sz="1300" b="1" dirty="0">
                <a:solidFill>
                  <a:srgbClr val="10B981"/>
                </a:solidFill>
                <a:latin typeface="Calibri" pitchFamily="34" charset="0"/>
                <a:ea typeface="Calibri" pitchFamily="34" charset="-122"/>
                <a:cs typeface="Calibri" pitchFamily="34" charset="-120"/>
              </a:rPr>
              <a:t>:8000</a:t>
            </a:r>
            <a:endParaRPr lang="en-US" sz="1300" dirty="0"/>
          </a:p>
        </p:txBody>
      </p:sp>
      <p:sp>
        <p:nvSpPr>
          <p:cNvPr id="18" name="Shape 16"/>
          <p:cNvSpPr/>
          <p:nvPr/>
        </p:nvSpPr>
        <p:spPr>
          <a:xfrm>
            <a:off x="2971800" y="1504188"/>
            <a:ext cx="320040" cy="0"/>
          </a:xfrm>
          <a:prstGeom prst="line">
            <a:avLst/>
          </a:prstGeom>
          <a:noFill/>
          <a:ln w="19050">
            <a:solidFill>
              <a:srgbClr val="484F58"/>
            </a:solidFill>
            <a:prstDash val="sysDash"/>
          </a:ln>
        </p:spPr>
      </p:sp>
      <p:sp>
        <p:nvSpPr>
          <p:cNvPr id="19" name="Shape 17"/>
          <p:cNvSpPr/>
          <p:nvPr/>
        </p:nvSpPr>
        <p:spPr>
          <a:xfrm>
            <a:off x="5852160" y="1504188"/>
            <a:ext cx="320040" cy="0"/>
          </a:xfrm>
          <a:prstGeom prst="line">
            <a:avLst/>
          </a:prstGeom>
          <a:noFill/>
          <a:ln w="19050">
            <a:solidFill>
              <a:srgbClr val="484F58"/>
            </a:solidFill>
            <a:prstDash val="sysDash"/>
          </a:ln>
        </p:spPr>
      </p:sp>
      <p:sp>
        <p:nvSpPr>
          <p:cNvPr id="20" name="Shape 18"/>
          <p:cNvSpPr/>
          <p:nvPr/>
        </p:nvSpPr>
        <p:spPr>
          <a:xfrm>
            <a:off x="457200" y="2286000"/>
            <a:ext cx="310896" cy="310896"/>
          </a:xfrm>
          <a:prstGeom prst="ellipse">
            <a:avLst/>
          </a:prstGeom>
          <a:solidFill>
            <a:srgbClr val="7C3AED"/>
          </a:solidFill>
          <a:ln w="12700">
            <a:solidFill>
              <a:srgbClr val="7C3AED"/>
            </a:solidFill>
            <a:prstDash val="solid"/>
          </a:ln>
        </p:spPr>
      </p:sp>
      <p:sp>
        <p:nvSpPr>
          <p:cNvPr id="21" name="Text 19"/>
          <p:cNvSpPr/>
          <p:nvPr/>
        </p:nvSpPr>
        <p:spPr>
          <a:xfrm>
            <a:off x="457200" y="2286000"/>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859536" y="2212848"/>
            <a:ext cx="3429000" cy="402336"/>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User uploads file via the React frontend</a:t>
            </a:r>
            <a:endParaRPr lang="en-US" sz="1200" dirty="0"/>
          </a:p>
        </p:txBody>
      </p:sp>
      <p:sp>
        <p:nvSpPr>
          <p:cNvPr id="23" name="Shape 21"/>
          <p:cNvSpPr/>
          <p:nvPr/>
        </p:nvSpPr>
        <p:spPr>
          <a:xfrm>
            <a:off x="457200" y="3154680"/>
            <a:ext cx="310896" cy="310896"/>
          </a:xfrm>
          <a:prstGeom prst="ellipse">
            <a:avLst/>
          </a:prstGeom>
          <a:solidFill>
            <a:srgbClr val="7C3AED"/>
          </a:solidFill>
          <a:ln w="12700">
            <a:solidFill>
              <a:srgbClr val="7C3AED"/>
            </a:solidFill>
            <a:prstDash val="solid"/>
          </a:ln>
        </p:spPr>
      </p:sp>
      <p:sp>
        <p:nvSpPr>
          <p:cNvPr id="24" name="Text 22"/>
          <p:cNvSpPr/>
          <p:nvPr/>
        </p:nvSpPr>
        <p:spPr>
          <a:xfrm>
            <a:off x="457200" y="3154680"/>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2</a:t>
            </a:r>
            <a:endParaRPr lang="en-US" sz="1100" dirty="0"/>
          </a:p>
        </p:txBody>
      </p:sp>
      <p:sp>
        <p:nvSpPr>
          <p:cNvPr id="25" name="Text 23"/>
          <p:cNvSpPr/>
          <p:nvPr/>
        </p:nvSpPr>
        <p:spPr>
          <a:xfrm>
            <a:off x="859536" y="3081528"/>
            <a:ext cx="3429000" cy="402336"/>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Backend validates (MIME, size ≤500 MB), creates job, stores file</a:t>
            </a:r>
            <a:endParaRPr lang="en-US" sz="1200" dirty="0"/>
          </a:p>
        </p:txBody>
      </p:sp>
      <p:sp>
        <p:nvSpPr>
          <p:cNvPr id="26" name="Shape 24"/>
          <p:cNvSpPr/>
          <p:nvPr/>
        </p:nvSpPr>
        <p:spPr>
          <a:xfrm>
            <a:off x="457200" y="4023360"/>
            <a:ext cx="310896" cy="310896"/>
          </a:xfrm>
          <a:prstGeom prst="ellipse">
            <a:avLst/>
          </a:prstGeom>
          <a:solidFill>
            <a:srgbClr val="7C3AED"/>
          </a:solidFill>
          <a:ln w="12700">
            <a:solidFill>
              <a:srgbClr val="7C3AED"/>
            </a:solidFill>
            <a:prstDash val="solid"/>
          </a:ln>
        </p:spPr>
      </p:sp>
      <p:sp>
        <p:nvSpPr>
          <p:cNvPr id="27" name="Text 25"/>
          <p:cNvSpPr/>
          <p:nvPr/>
        </p:nvSpPr>
        <p:spPr>
          <a:xfrm>
            <a:off x="457200" y="4023360"/>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3</a:t>
            </a:r>
            <a:endParaRPr lang="en-US" sz="1100" dirty="0"/>
          </a:p>
        </p:txBody>
      </p:sp>
      <p:sp>
        <p:nvSpPr>
          <p:cNvPr id="28" name="Text 26"/>
          <p:cNvSpPr/>
          <p:nvPr/>
        </p:nvSpPr>
        <p:spPr>
          <a:xfrm>
            <a:off x="859536" y="3950208"/>
            <a:ext cx="3429000" cy="402336"/>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Backend calls AI Service asynchronously in background</a:t>
            </a:r>
            <a:endParaRPr lang="en-US" sz="1200" dirty="0"/>
          </a:p>
        </p:txBody>
      </p:sp>
      <p:sp>
        <p:nvSpPr>
          <p:cNvPr id="29" name="Shape 27"/>
          <p:cNvSpPr/>
          <p:nvPr/>
        </p:nvSpPr>
        <p:spPr>
          <a:xfrm>
            <a:off x="4800600" y="2286000"/>
            <a:ext cx="310896" cy="310896"/>
          </a:xfrm>
          <a:prstGeom prst="ellipse">
            <a:avLst/>
          </a:prstGeom>
          <a:solidFill>
            <a:srgbClr val="7C3AED"/>
          </a:solidFill>
          <a:ln w="12700">
            <a:solidFill>
              <a:srgbClr val="7C3AED"/>
            </a:solidFill>
            <a:prstDash val="solid"/>
          </a:ln>
        </p:spPr>
      </p:sp>
      <p:sp>
        <p:nvSpPr>
          <p:cNvPr id="30" name="Text 28"/>
          <p:cNvSpPr/>
          <p:nvPr/>
        </p:nvSpPr>
        <p:spPr>
          <a:xfrm>
            <a:off x="4800600" y="2286000"/>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5202936" y="2212848"/>
            <a:ext cx="3429000" cy="402336"/>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AI Service: Video → Audio (FFmpeg) → Whisper → Groq LLM analysis</a:t>
            </a:r>
            <a:endParaRPr lang="en-US" sz="1200" dirty="0"/>
          </a:p>
        </p:txBody>
      </p:sp>
      <p:sp>
        <p:nvSpPr>
          <p:cNvPr id="32" name="Shape 30"/>
          <p:cNvSpPr/>
          <p:nvPr/>
        </p:nvSpPr>
        <p:spPr>
          <a:xfrm>
            <a:off x="4800600" y="3154680"/>
            <a:ext cx="310896" cy="310896"/>
          </a:xfrm>
          <a:prstGeom prst="ellipse">
            <a:avLst/>
          </a:prstGeom>
          <a:solidFill>
            <a:srgbClr val="7C3AED"/>
          </a:solidFill>
          <a:ln w="12700">
            <a:solidFill>
              <a:srgbClr val="7C3AED"/>
            </a:solidFill>
            <a:prstDash val="solid"/>
          </a:ln>
        </p:spPr>
      </p:sp>
      <p:sp>
        <p:nvSpPr>
          <p:cNvPr id="33" name="Text 31"/>
          <p:cNvSpPr/>
          <p:nvPr/>
        </p:nvSpPr>
        <p:spPr>
          <a:xfrm>
            <a:off x="4800600" y="3154680"/>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5</a:t>
            </a:r>
            <a:endParaRPr lang="en-US" sz="1100" dirty="0"/>
          </a:p>
        </p:txBody>
      </p:sp>
      <p:sp>
        <p:nvSpPr>
          <p:cNvPr id="34" name="Text 32"/>
          <p:cNvSpPr/>
          <p:nvPr/>
        </p:nvSpPr>
        <p:spPr>
          <a:xfrm>
            <a:off x="5202936" y="3081528"/>
            <a:ext cx="3429000" cy="402336"/>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Results saved to DB; frontend polls for job completion status</a:t>
            </a:r>
            <a:endParaRPr lang="en-US" sz="1200" dirty="0"/>
          </a:p>
        </p:txBody>
      </p:sp>
      <p:sp>
        <p:nvSpPr>
          <p:cNvPr id="35" name="Shape 33"/>
          <p:cNvSpPr/>
          <p:nvPr/>
        </p:nvSpPr>
        <p:spPr>
          <a:xfrm>
            <a:off x="4800600" y="4023360"/>
            <a:ext cx="310896" cy="310896"/>
          </a:xfrm>
          <a:prstGeom prst="ellipse">
            <a:avLst/>
          </a:prstGeom>
          <a:solidFill>
            <a:srgbClr val="7C3AED"/>
          </a:solidFill>
          <a:ln w="12700">
            <a:solidFill>
              <a:srgbClr val="7C3AED"/>
            </a:solidFill>
            <a:prstDash val="solid"/>
          </a:ln>
        </p:spPr>
      </p:sp>
      <p:sp>
        <p:nvSpPr>
          <p:cNvPr id="36" name="Text 34"/>
          <p:cNvSpPr/>
          <p:nvPr/>
        </p:nvSpPr>
        <p:spPr>
          <a:xfrm>
            <a:off x="4800600" y="4023360"/>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6</a:t>
            </a:r>
            <a:endParaRPr lang="en-US" sz="1100" dirty="0"/>
          </a:p>
        </p:txBody>
      </p:sp>
      <p:sp>
        <p:nvSpPr>
          <p:cNvPr id="37" name="Text 35"/>
          <p:cNvSpPr/>
          <p:nvPr/>
        </p:nvSpPr>
        <p:spPr>
          <a:xfrm>
            <a:off x="5202936" y="3950208"/>
            <a:ext cx="3429000" cy="402336"/>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User views full transcript + summary / key points / conclusions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What's Done — Core Features</a:t>
            </a:r>
            <a:endParaRPr lang="en-US" sz="3400" dirty="0"/>
          </a:p>
        </p:txBody>
      </p:sp>
      <p:sp>
        <p:nvSpPr>
          <p:cNvPr id="3" name="Shape 1"/>
          <p:cNvSpPr/>
          <p:nvPr/>
        </p:nvSpPr>
        <p:spPr>
          <a:xfrm>
            <a:off x="457200" y="1005840"/>
            <a:ext cx="4023360" cy="3840480"/>
          </a:xfrm>
          <a:prstGeom prst="rect">
            <a:avLst/>
          </a:prstGeom>
          <a:solidFill>
            <a:srgbClr val="161B22"/>
          </a:solidFill>
          <a:ln w="9525">
            <a:solidFill>
              <a:srgbClr val="30363D"/>
            </a:solidFill>
            <a:prstDash val="solid"/>
          </a:ln>
        </p:spPr>
      </p:sp>
      <p:sp>
        <p:nvSpPr>
          <p:cNvPr id="4" name="Shape 2"/>
          <p:cNvSpPr/>
          <p:nvPr/>
        </p:nvSpPr>
        <p:spPr>
          <a:xfrm>
            <a:off x="457200" y="1005840"/>
            <a:ext cx="45720" cy="3840480"/>
          </a:xfrm>
          <a:prstGeom prst="rect">
            <a:avLst/>
          </a:prstGeom>
          <a:solidFill>
            <a:srgbClr val="3B82F6"/>
          </a:solidFill>
          <a:ln w="12700">
            <a:solidFill>
              <a:srgbClr val="3B82F6"/>
            </a:solidFill>
            <a:prstDash val="solid"/>
          </a:ln>
        </p:spPr>
      </p:sp>
      <p:sp>
        <p:nvSpPr>
          <p:cNvPr id="5" name="Shape 3"/>
          <p:cNvSpPr/>
          <p:nvPr/>
        </p:nvSpPr>
        <p:spPr>
          <a:xfrm>
            <a:off x="621792" y="1170432"/>
            <a:ext cx="438912" cy="438912"/>
          </a:xfrm>
          <a:prstGeom prst="ellipse">
            <a:avLst/>
          </a:prstGeom>
          <a:solidFill>
            <a:srgbClr val="3B82F6">
              <a:alpha val="25000"/>
            </a:srgbClr>
          </a:solidFill>
          <a:ln w="12700">
            <a:solidFill>
              <a:srgbClr val="3B82F6"/>
            </a:solidFill>
            <a:prstDash val="solid"/>
          </a:ln>
        </p:spPr>
      </p:sp>
      <p:pic>
        <p:nvPicPr>
          <p:cNvPr id="6" name="Image 0" descr="preencoded.png"/>
          <p:cNvPicPr>
            <a:picLocks noChangeAspect="1"/>
          </p:cNvPicPr>
          <p:nvPr/>
        </p:nvPicPr>
        <p:blipFill>
          <a:blip r:embed="rId3"/>
          <a:stretch>
            <a:fillRect/>
          </a:stretch>
        </p:blipFill>
        <p:spPr>
          <a:xfrm>
            <a:off x="658368" y="1207008"/>
            <a:ext cx="365760" cy="365760"/>
          </a:xfrm>
          <a:prstGeom prst="rect">
            <a:avLst/>
          </a:prstGeom>
        </p:spPr>
      </p:pic>
      <p:sp>
        <p:nvSpPr>
          <p:cNvPr id="7" name="Text 4"/>
          <p:cNvSpPr/>
          <p:nvPr/>
        </p:nvSpPr>
        <p:spPr>
          <a:xfrm>
            <a:off x="1152144" y="1207008"/>
            <a:ext cx="3200400" cy="384048"/>
          </a:xfrm>
          <a:prstGeom prst="rect">
            <a:avLst/>
          </a:prstGeom>
          <a:noFill/>
          <a:ln/>
        </p:spPr>
        <p:txBody>
          <a:bodyPr wrap="square" lIns="0" tIns="0" rIns="0" bIns="0" rtlCol="0" anchor="ctr"/>
          <a:lstStyle/>
          <a:p>
            <a:pPr marL="0" indent="0">
              <a:buNone/>
            </a:pPr>
            <a:r>
              <a:rPr lang="en-US" sz="1400" b="1" dirty="0">
                <a:solidFill>
                  <a:srgbClr val="F0F6FC"/>
                </a:solidFill>
                <a:latin typeface="Georgia" pitchFamily="34" charset="0"/>
                <a:ea typeface="Georgia" pitchFamily="34" charset="-122"/>
                <a:cs typeface="Georgia" pitchFamily="34" charset="-120"/>
              </a:rPr>
              <a:t>Authentication &amp; Security</a:t>
            </a:r>
            <a:endParaRPr lang="en-US" sz="1400" dirty="0"/>
          </a:p>
        </p:txBody>
      </p:sp>
      <p:sp>
        <p:nvSpPr>
          <p:cNvPr id="8" name="Shape 5"/>
          <p:cNvSpPr/>
          <p:nvPr/>
        </p:nvSpPr>
        <p:spPr>
          <a:xfrm>
            <a:off x="621792" y="1755648"/>
            <a:ext cx="3749040" cy="0"/>
          </a:xfrm>
          <a:prstGeom prst="line">
            <a:avLst/>
          </a:prstGeom>
          <a:noFill/>
          <a:ln w="9525">
            <a:solidFill>
              <a:srgbClr val="30363D"/>
            </a:solidFill>
            <a:prstDash val="solid"/>
          </a:ln>
        </p:spPr>
      </p:sp>
      <p:sp>
        <p:nvSpPr>
          <p:cNvPr id="9" name="Text 6"/>
          <p:cNvSpPr/>
          <p:nvPr/>
        </p:nvSpPr>
        <p:spPr>
          <a:xfrm>
            <a:off x="621792" y="1892808"/>
            <a:ext cx="3749040" cy="2834640"/>
          </a:xfrm>
          <a:prstGeom prst="rect">
            <a:avLst/>
          </a:prstGeom>
          <a:noFill/>
          <a:ln/>
        </p:spPr>
        <p:txBody>
          <a:bodyPr wrap="square" lIns="0" tIns="50800" rIns="0" bIns="0" rtlCol="0" anchor="t"/>
          <a:lstStyle/>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JWT login / signup with role + plan claims</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bcrypt password hashing</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Soft-delete on user accounts (30-day recovery)</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Role-based access control (admin gates)</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Path-traversal protection on file uploads</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CORS restricted to frontend origin only</a:t>
            </a:r>
            <a:endParaRPr lang="en-US" sz="1250" dirty="0"/>
          </a:p>
        </p:txBody>
      </p:sp>
      <p:sp>
        <p:nvSpPr>
          <p:cNvPr id="10" name="Shape 7"/>
          <p:cNvSpPr/>
          <p:nvPr/>
        </p:nvSpPr>
        <p:spPr>
          <a:xfrm>
            <a:off x="4709160" y="1005840"/>
            <a:ext cx="4023360" cy="3840480"/>
          </a:xfrm>
          <a:prstGeom prst="rect">
            <a:avLst/>
          </a:prstGeom>
          <a:solidFill>
            <a:srgbClr val="161B22"/>
          </a:solidFill>
          <a:ln w="9525">
            <a:solidFill>
              <a:srgbClr val="30363D"/>
            </a:solidFill>
            <a:prstDash val="solid"/>
          </a:ln>
        </p:spPr>
      </p:sp>
      <p:sp>
        <p:nvSpPr>
          <p:cNvPr id="11" name="Shape 8"/>
          <p:cNvSpPr/>
          <p:nvPr/>
        </p:nvSpPr>
        <p:spPr>
          <a:xfrm>
            <a:off x="4709160" y="1005840"/>
            <a:ext cx="45720" cy="3840480"/>
          </a:xfrm>
          <a:prstGeom prst="rect">
            <a:avLst/>
          </a:prstGeom>
          <a:solidFill>
            <a:srgbClr val="10B981"/>
          </a:solidFill>
          <a:ln w="12700">
            <a:solidFill>
              <a:srgbClr val="10B981"/>
            </a:solidFill>
            <a:prstDash val="solid"/>
          </a:ln>
        </p:spPr>
      </p:sp>
      <p:sp>
        <p:nvSpPr>
          <p:cNvPr id="12" name="Shape 9"/>
          <p:cNvSpPr/>
          <p:nvPr/>
        </p:nvSpPr>
        <p:spPr>
          <a:xfrm>
            <a:off x="4873752" y="1170432"/>
            <a:ext cx="438912" cy="438912"/>
          </a:xfrm>
          <a:prstGeom prst="ellipse">
            <a:avLst/>
          </a:prstGeom>
          <a:solidFill>
            <a:srgbClr val="10B981">
              <a:alpha val="25000"/>
            </a:srgbClr>
          </a:solidFill>
          <a:ln w="12700">
            <a:solidFill>
              <a:srgbClr val="10B981"/>
            </a:solidFill>
            <a:prstDash val="solid"/>
          </a:ln>
        </p:spPr>
      </p:sp>
      <p:pic>
        <p:nvPicPr>
          <p:cNvPr id="13" name="Image 1" descr="preencoded.png"/>
          <p:cNvPicPr>
            <a:picLocks noChangeAspect="1"/>
          </p:cNvPicPr>
          <p:nvPr/>
        </p:nvPicPr>
        <p:blipFill>
          <a:blip r:embed="rId4"/>
          <a:stretch>
            <a:fillRect/>
          </a:stretch>
        </p:blipFill>
        <p:spPr>
          <a:xfrm>
            <a:off x="4910328" y="1207008"/>
            <a:ext cx="365760" cy="365760"/>
          </a:xfrm>
          <a:prstGeom prst="rect">
            <a:avLst/>
          </a:prstGeom>
        </p:spPr>
      </p:pic>
      <p:sp>
        <p:nvSpPr>
          <p:cNvPr id="14" name="Text 10"/>
          <p:cNvSpPr/>
          <p:nvPr/>
        </p:nvSpPr>
        <p:spPr>
          <a:xfrm>
            <a:off x="5404104" y="1207008"/>
            <a:ext cx="3200400" cy="384048"/>
          </a:xfrm>
          <a:prstGeom prst="rect">
            <a:avLst/>
          </a:prstGeom>
          <a:noFill/>
          <a:ln/>
        </p:spPr>
        <p:txBody>
          <a:bodyPr wrap="square" lIns="0" tIns="0" rIns="0" bIns="0" rtlCol="0" anchor="ctr"/>
          <a:lstStyle/>
          <a:p>
            <a:pPr marL="0" indent="0">
              <a:buNone/>
            </a:pPr>
            <a:r>
              <a:rPr lang="en-US" sz="1400" b="1" dirty="0">
                <a:solidFill>
                  <a:srgbClr val="F0F6FC"/>
                </a:solidFill>
                <a:latin typeface="Georgia" pitchFamily="34" charset="0"/>
                <a:ea typeface="Georgia" pitchFamily="34" charset="-122"/>
                <a:cs typeface="Georgia" pitchFamily="34" charset="-120"/>
              </a:rPr>
              <a:t>File Processing</a:t>
            </a:r>
            <a:endParaRPr lang="en-US" sz="1400" dirty="0"/>
          </a:p>
        </p:txBody>
      </p:sp>
      <p:sp>
        <p:nvSpPr>
          <p:cNvPr id="15" name="Shape 11"/>
          <p:cNvSpPr/>
          <p:nvPr/>
        </p:nvSpPr>
        <p:spPr>
          <a:xfrm>
            <a:off x="4873752" y="1755648"/>
            <a:ext cx="3749040" cy="0"/>
          </a:xfrm>
          <a:prstGeom prst="line">
            <a:avLst/>
          </a:prstGeom>
          <a:noFill/>
          <a:ln w="9525">
            <a:solidFill>
              <a:srgbClr val="30363D"/>
            </a:solidFill>
            <a:prstDash val="solid"/>
          </a:ln>
        </p:spPr>
      </p:sp>
      <p:sp>
        <p:nvSpPr>
          <p:cNvPr id="16" name="Text 12"/>
          <p:cNvSpPr/>
          <p:nvPr/>
        </p:nvSpPr>
        <p:spPr>
          <a:xfrm>
            <a:off x="4873752" y="1892808"/>
            <a:ext cx="3749040" cy="2834640"/>
          </a:xfrm>
          <a:prstGeom prst="rect">
            <a:avLst/>
          </a:prstGeom>
          <a:noFill/>
          <a:ln/>
        </p:spPr>
        <p:txBody>
          <a:bodyPr wrap="square" lIns="0" tIns="50800" rIns="0" bIns="0" rtlCol="0" anchor="t"/>
          <a:lstStyle/>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Audio, video, PDF, and text file support</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Files up to 500 MB accepted</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Background async processing with job tracking</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Long recordings tested up to 1 hour</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Server-side MIME + extension + size validation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What's Done — AI &amp; Billing</a:t>
            </a:r>
            <a:endParaRPr lang="en-US" sz="3400" dirty="0"/>
          </a:p>
        </p:txBody>
      </p:sp>
      <p:sp>
        <p:nvSpPr>
          <p:cNvPr id="3" name="Shape 1"/>
          <p:cNvSpPr/>
          <p:nvPr/>
        </p:nvSpPr>
        <p:spPr>
          <a:xfrm>
            <a:off x="457200" y="1005840"/>
            <a:ext cx="3246120" cy="3840480"/>
          </a:xfrm>
          <a:prstGeom prst="rect">
            <a:avLst/>
          </a:prstGeom>
          <a:solidFill>
            <a:srgbClr val="161B22"/>
          </a:solidFill>
          <a:ln w="9525">
            <a:solidFill>
              <a:srgbClr val="30363D"/>
            </a:solidFill>
            <a:prstDash val="solid"/>
          </a:ln>
        </p:spPr>
      </p:sp>
      <p:sp>
        <p:nvSpPr>
          <p:cNvPr id="4" name="Shape 2"/>
          <p:cNvSpPr/>
          <p:nvPr/>
        </p:nvSpPr>
        <p:spPr>
          <a:xfrm>
            <a:off x="457200" y="1005840"/>
            <a:ext cx="45720" cy="3840480"/>
          </a:xfrm>
          <a:prstGeom prst="rect">
            <a:avLst/>
          </a:prstGeom>
          <a:solidFill>
            <a:srgbClr val="10B981"/>
          </a:solidFill>
          <a:ln w="12700">
            <a:solidFill>
              <a:srgbClr val="10B981"/>
            </a:solidFill>
            <a:prstDash val="solid"/>
          </a:ln>
        </p:spPr>
      </p:sp>
      <p:sp>
        <p:nvSpPr>
          <p:cNvPr id="5" name="Shape 3"/>
          <p:cNvSpPr/>
          <p:nvPr/>
        </p:nvSpPr>
        <p:spPr>
          <a:xfrm>
            <a:off x="594360" y="1152144"/>
            <a:ext cx="402336" cy="402336"/>
          </a:xfrm>
          <a:prstGeom prst="ellipse">
            <a:avLst/>
          </a:prstGeom>
          <a:solidFill>
            <a:srgbClr val="10B981">
              <a:alpha val="25000"/>
            </a:srgbClr>
          </a:solidFill>
          <a:ln w="12700">
            <a:solidFill>
              <a:srgbClr val="10B981"/>
            </a:solidFill>
            <a:prstDash val="solid"/>
          </a:ln>
        </p:spPr>
      </p:sp>
      <p:pic>
        <p:nvPicPr>
          <p:cNvPr id="6" name="Image 0" descr="preencoded.png"/>
          <p:cNvPicPr>
            <a:picLocks noChangeAspect="1"/>
          </p:cNvPicPr>
          <p:nvPr/>
        </p:nvPicPr>
        <p:blipFill>
          <a:blip r:embed="rId3"/>
          <a:stretch>
            <a:fillRect/>
          </a:stretch>
        </p:blipFill>
        <p:spPr>
          <a:xfrm>
            <a:off x="630936" y="1188720"/>
            <a:ext cx="329184" cy="329184"/>
          </a:xfrm>
          <a:prstGeom prst="rect">
            <a:avLst/>
          </a:prstGeom>
        </p:spPr>
      </p:pic>
      <p:sp>
        <p:nvSpPr>
          <p:cNvPr id="7" name="Text 4"/>
          <p:cNvSpPr/>
          <p:nvPr/>
        </p:nvSpPr>
        <p:spPr>
          <a:xfrm>
            <a:off x="1097280" y="1170432"/>
            <a:ext cx="2496312" cy="347472"/>
          </a:xfrm>
          <a:prstGeom prst="rect">
            <a:avLst/>
          </a:prstGeom>
          <a:noFill/>
          <a:ln/>
        </p:spPr>
        <p:txBody>
          <a:bodyPr wrap="square" lIns="0" tIns="0" rIns="0" bIns="0" rtlCol="0" anchor="ctr"/>
          <a:lstStyle/>
          <a:p>
            <a:pPr marL="0" indent="0">
              <a:buNone/>
            </a:pPr>
            <a:r>
              <a:rPr lang="en-US" sz="1250" b="1" dirty="0">
                <a:solidFill>
                  <a:srgbClr val="F0F6FC"/>
                </a:solidFill>
                <a:latin typeface="Georgia" pitchFamily="34" charset="0"/>
                <a:ea typeface="Georgia" pitchFamily="34" charset="-122"/>
                <a:cs typeface="Georgia" pitchFamily="34" charset="-120"/>
              </a:rPr>
              <a:t>AI &amp; Analysis</a:t>
            </a:r>
            <a:endParaRPr lang="en-US" sz="1250" dirty="0"/>
          </a:p>
        </p:txBody>
      </p:sp>
      <p:sp>
        <p:nvSpPr>
          <p:cNvPr id="8" name="Shape 5"/>
          <p:cNvSpPr/>
          <p:nvPr/>
        </p:nvSpPr>
        <p:spPr>
          <a:xfrm>
            <a:off x="594360" y="1682496"/>
            <a:ext cx="2990088" cy="0"/>
          </a:xfrm>
          <a:prstGeom prst="line">
            <a:avLst/>
          </a:prstGeom>
          <a:noFill/>
          <a:ln w="9525">
            <a:solidFill>
              <a:srgbClr val="30363D"/>
            </a:solidFill>
            <a:prstDash val="solid"/>
          </a:ln>
        </p:spPr>
      </p:sp>
      <p:sp>
        <p:nvSpPr>
          <p:cNvPr id="9" name="Text 6"/>
          <p:cNvSpPr/>
          <p:nvPr/>
        </p:nvSpPr>
        <p:spPr>
          <a:xfrm>
            <a:off x="594360" y="1810512"/>
            <a:ext cx="3044952" cy="2907792"/>
          </a:xfrm>
          <a:prstGeom prst="rect">
            <a:avLst/>
          </a:prstGeom>
          <a:noFill/>
          <a:ln/>
        </p:spPr>
        <p:txBody>
          <a:bodyPr wrap="square" lIns="0" tIns="50800" rIns="0" bIns="0" rtlCol="0" anchor="t"/>
          <a:lstStyle/>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faster-whisper (language auto-detection)</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Timestamped transcript segments</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Groq LLaMA 70B summarization</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Multi-chunk map-reduce for long files</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Language-aware prompts (FR / EN)</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PDF via pdfplumber — no Whisper needed</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Groq quota: 80% warn, 95% block</a:t>
            </a:r>
            <a:endParaRPr lang="en-US" sz="1100" dirty="0"/>
          </a:p>
        </p:txBody>
      </p:sp>
      <p:sp>
        <p:nvSpPr>
          <p:cNvPr id="10" name="Shape 7"/>
          <p:cNvSpPr/>
          <p:nvPr/>
        </p:nvSpPr>
        <p:spPr>
          <a:xfrm>
            <a:off x="3840480" y="1005840"/>
            <a:ext cx="2651760" cy="3840480"/>
          </a:xfrm>
          <a:prstGeom prst="rect">
            <a:avLst/>
          </a:prstGeom>
          <a:solidFill>
            <a:srgbClr val="161B22"/>
          </a:solidFill>
          <a:ln w="9525">
            <a:solidFill>
              <a:srgbClr val="30363D"/>
            </a:solidFill>
            <a:prstDash val="solid"/>
          </a:ln>
        </p:spPr>
      </p:sp>
      <p:sp>
        <p:nvSpPr>
          <p:cNvPr id="11" name="Shape 8"/>
          <p:cNvSpPr/>
          <p:nvPr/>
        </p:nvSpPr>
        <p:spPr>
          <a:xfrm>
            <a:off x="3840480" y="1005840"/>
            <a:ext cx="45720" cy="3840480"/>
          </a:xfrm>
          <a:prstGeom prst="rect">
            <a:avLst/>
          </a:prstGeom>
          <a:solidFill>
            <a:srgbClr val="7C3AED"/>
          </a:solidFill>
          <a:ln w="12700">
            <a:solidFill>
              <a:srgbClr val="7C3AED"/>
            </a:solidFill>
            <a:prstDash val="solid"/>
          </a:ln>
        </p:spPr>
      </p:sp>
      <p:sp>
        <p:nvSpPr>
          <p:cNvPr id="12" name="Shape 9"/>
          <p:cNvSpPr/>
          <p:nvPr/>
        </p:nvSpPr>
        <p:spPr>
          <a:xfrm>
            <a:off x="3977640" y="1152144"/>
            <a:ext cx="402336" cy="402336"/>
          </a:xfrm>
          <a:prstGeom prst="ellipse">
            <a:avLst/>
          </a:prstGeom>
          <a:solidFill>
            <a:srgbClr val="7C3AED">
              <a:alpha val="25000"/>
            </a:srgbClr>
          </a:solidFill>
          <a:ln w="12700">
            <a:solidFill>
              <a:srgbClr val="7C3AED"/>
            </a:solidFill>
            <a:prstDash val="solid"/>
          </a:ln>
        </p:spPr>
      </p:sp>
      <p:pic>
        <p:nvPicPr>
          <p:cNvPr id="13" name="Image 1" descr="preencoded.png"/>
          <p:cNvPicPr>
            <a:picLocks noChangeAspect="1"/>
          </p:cNvPicPr>
          <p:nvPr/>
        </p:nvPicPr>
        <p:blipFill>
          <a:blip r:embed="rId4"/>
          <a:stretch>
            <a:fillRect/>
          </a:stretch>
        </p:blipFill>
        <p:spPr>
          <a:xfrm>
            <a:off x="4014216" y="1188720"/>
            <a:ext cx="329184" cy="329184"/>
          </a:xfrm>
          <a:prstGeom prst="rect">
            <a:avLst/>
          </a:prstGeom>
        </p:spPr>
      </p:pic>
      <p:sp>
        <p:nvSpPr>
          <p:cNvPr id="14" name="Text 10"/>
          <p:cNvSpPr/>
          <p:nvPr/>
        </p:nvSpPr>
        <p:spPr>
          <a:xfrm>
            <a:off x="4480560" y="1170432"/>
            <a:ext cx="1901952" cy="347472"/>
          </a:xfrm>
          <a:prstGeom prst="rect">
            <a:avLst/>
          </a:prstGeom>
          <a:noFill/>
          <a:ln/>
        </p:spPr>
        <p:txBody>
          <a:bodyPr wrap="square" lIns="0" tIns="0" rIns="0" bIns="0" rtlCol="0" anchor="ctr"/>
          <a:lstStyle/>
          <a:p>
            <a:pPr marL="0" indent="0">
              <a:buNone/>
            </a:pPr>
            <a:r>
              <a:rPr lang="en-US" sz="1250" b="1" dirty="0">
                <a:solidFill>
                  <a:srgbClr val="F0F6FC"/>
                </a:solidFill>
                <a:latin typeface="Georgia" pitchFamily="34" charset="0"/>
                <a:ea typeface="Georgia" pitchFamily="34" charset="-122"/>
                <a:cs typeface="Georgia" pitchFamily="34" charset="-120"/>
              </a:rPr>
              <a:t>Billing &amp; Usage</a:t>
            </a:r>
            <a:endParaRPr lang="en-US" sz="1250" dirty="0"/>
          </a:p>
        </p:txBody>
      </p:sp>
      <p:sp>
        <p:nvSpPr>
          <p:cNvPr id="15" name="Shape 11"/>
          <p:cNvSpPr/>
          <p:nvPr/>
        </p:nvSpPr>
        <p:spPr>
          <a:xfrm>
            <a:off x="3977640" y="1682496"/>
            <a:ext cx="2395728" cy="0"/>
          </a:xfrm>
          <a:prstGeom prst="line">
            <a:avLst/>
          </a:prstGeom>
          <a:noFill/>
          <a:ln w="9525">
            <a:solidFill>
              <a:srgbClr val="30363D"/>
            </a:solidFill>
            <a:prstDash val="solid"/>
          </a:ln>
        </p:spPr>
      </p:sp>
      <p:sp>
        <p:nvSpPr>
          <p:cNvPr id="16" name="Text 12"/>
          <p:cNvSpPr/>
          <p:nvPr/>
        </p:nvSpPr>
        <p:spPr>
          <a:xfrm>
            <a:off x="3977640" y="1810512"/>
            <a:ext cx="2450592" cy="2907792"/>
          </a:xfrm>
          <a:prstGeom prst="rect">
            <a:avLst/>
          </a:prstGeom>
          <a:noFill/>
          <a:ln/>
        </p:spPr>
        <p:txBody>
          <a:bodyPr wrap="square" lIns="0" tIns="50800" rIns="0" bIns="0" rtlCol="0" anchor="t"/>
          <a:lstStyle/>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Stripe Checkout + Portal</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5 Stripe webhook events handled</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Free / Pro ($9.99) / Business ($29.99)</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Per-user usage tracking</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Usage reset on billing period</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Usage widget in sidebar</a:t>
            </a:r>
            <a:endParaRPr lang="en-US" sz="1100" dirty="0"/>
          </a:p>
        </p:txBody>
      </p:sp>
      <p:sp>
        <p:nvSpPr>
          <p:cNvPr id="17" name="Shape 13"/>
          <p:cNvSpPr/>
          <p:nvPr/>
        </p:nvSpPr>
        <p:spPr>
          <a:xfrm>
            <a:off x="6629400" y="1005840"/>
            <a:ext cx="2057400" cy="3840480"/>
          </a:xfrm>
          <a:prstGeom prst="rect">
            <a:avLst/>
          </a:prstGeom>
          <a:solidFill>
            <a:srgbClr val="161B22"/>
          </a:solidFill>
          <a:ln w="9525">
            <a:solidFill>
              <a:srgbClr val="30363D"/>
            </a:solidFill>
            <a:prstDash val="solid"/>
          </a:ln>
        </p:spPr>
      </p:sp>
      <p:sp>
        <p:nvSpPr>
          <p:cNvPr id="18" name="Shape 14"/>
          <p:cNvSpPr/>
          <p:nvPr/>
        </p:nvSpPr>
        <p:spPr>
          <a:xfrm>
            <a:off x="6629400" y="1005840"/>
            <a:ext cx="45720" cy="3840480"/>
          </a:xfrm>
          <a:prstGeom prst="rect">
            <a:avLst/>
          </a:prstGeom>
          <a:solidFill>
            <a:srgbClr val="F59E0B"/>
          </a:solidFill>
          <a:ln w="12700">
            <a:solidFill>
              <a:srgbClr val="F59E0B"/>
            </a:solidFill>
            <a:prstDash val="solid"/>
          </a:ln>
        </p:spPr>
      </p:sp>
      <p:sp>
        <p:nvSpPr>
          <p:cNvPr id="19" name="Shape 15"/>
          <p:cNvSpPr/>
          <p:nvPr/>
        </p:nvSpPr>
        <p:spPr>
          <a:xfrm>
            <a:off x="6766560" y="1152144"/>
            <a:ext cx="402336" cy="402336"/>
          </a:xfrm>
          <a:prstGeom prst="ellipse">
            <a:avLst/>
          </a:prstGeom>
          <a:solidFill>
            <a:srgbClr val="F59E0B">
              <a:alpha val="25000"/>
            </a:srgbClr>
          </a:solidFill>
          <a:ln w="12700">
            <a:solidFill>
              <a:srgbClr val="F59E0B"/>
            </a:solidFill>
            <a:prstDash val="solid"/>
          </a:ln>
        </p:spPr>
      </p:sp>
      <p:pic>
        <p:nvPicPr>
          <p:cNvPr id="20" name="Image 2" descr="preencoded.png"/>
          <p:cNvPicPr>
            <a:picLocks noChangeAspect="1"/>
          </p:cNvPicPr>
          <p:nvPr/>
        </p:nvPicPr>
        <p:blipFill>
          <a:blip r:embed="rId5"/>
          <a:stretch>
            <a:fillRect/>
          </a:stretch>
        </p:blipFill>
        <p:spPr>
          <a:xfrm>
            <a:off x="6803136" y="1188720"/>
            <a:ext cx="329184" cy="329184"/>
          </a:xfrm>
          <a:prstGeom prst="rect">
            <a:avLst/>
          </a:prstGeom>
        </p:spPr>
      </p:pic>
      <p:sp>
        <p:nvSpPr>
          <p:cNvPr id="21" name="Text 16"/>
          <p:cNvSpPr/>
          <p:nvPr/>
        </p:nvSpPr>
        <p:spPr>
          <a:xfrm>
            <a:off x="7269480" y="1170432"/>
            <a:ext cx="1307592" cy="347472"/>
          </a:xfrm>
          <a:prstGeom prst="rect">
            <a:avLst/>
          </a:prstGeom>
          <a:noFill/>
          <a:ln/>
        </p:spPr>
        <p:txBody>
          <a:bodyPr wrap="square" lIns="0" tIns="0" rIns="0" bIns="0" rtlCol="0" anchor="ctr"/>
          <a:lstStyle/>
          <a:p>
            <a:pPr marL="0" indent="0">
              <a:buNone/>
            </a:pPr>
            <a:r>
              <a:rPr lang="en-US" sz="1250" b="1" dirty="0">
                <a:solidFill>
                  <a:srgbClr val="F0F6FC"/>
                </a:solidFill>
                <a:latin typeface="Georgia" pitchFamily="34" charset="0"/>
                <a:ea typeface="Georgia" pitchFamily="34" charset="-122"/>
                <a:cs typeface="Georgia" pitchFamily="34" charset="-120"/>
              </a:rPr>
              <a:t>Admin Dashboard</a:t>
            </a:r>
            <a:endParaRPr lang="en-US" sz="1250" dirty="0"/>
          </a:p>
        </p:txBody>
      </p:sp>
      <p:sp>
        <p:nvSpPr>
          <p:cNvPr id="22" name="Shape 17"/>
          <p:cNvSpPr/>
          <p:nvPr/>
        </p:nvSpPr>
        <p:spPr>
          <a:xfrm>
            <a:off x="6766560" y="1682496"/>
            <a:ext cx="1801368" cy="0"/>
          </a:xfrm>
          <a:prstGeom prst="line">
            <a:avLst/>
          </a:prstGeom>
          <a:noFill/>
          <a:ln w="9525">
            <a:solidFill>
              <a:srgbClr val="30363D"/>
            </a:solidFill>
            <a:prstDash val="solid"/>
          </a:ln>
        </p:spPr>
      </p:sp>
      <p:sp>
        <p:nvSpPr>
          <p:cNvPr id="23" name="Text 18"/>
          <p:cNvSpPr/>
          <p:nvPr/>
        </p:nvSpPr>
        <p:spPr>
          <a:xfrm>
            <a:off x="6766560" y="1810512"/>
            <a:ext cx="1856232" cy="2907792"/>
          </a:xfrm>
          <a:prstGeom prst="rect">
            <a:avLst/>
          </a:prstGeom>
          <a:noFill/>
          <a:ln/>
        </p:spPr>
        <p:txBody>
          <a:bodyPr wrap="square" lIns="0" tIns="50800" rIns="0" bIns="0" rtlCol="0" anchor="t"/>
          <a:lstStyle/>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Platform-wide stats</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User management</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Job monitoring</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Manual usage reset</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Plan override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Improvements &amp; Bug Fixes</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749040"/>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16560">
                <a:tc>
                  <a:txBody>
                    <a:bodyPr/>
                    <a:lstStyle/>
                    <a:p>
                      <a:pPr marL="0" indent="0">
                        <a:buNone/>
                      </a:pPr>
                      <a:r>
                        <a:rPr lang="en-US" sz="1100" b="1" dirty="0">
                          <a:solidFill>
                            <a:srgbClr val="F0F6FC"/>
                          </a:solidFill>
                          <a:latin typeface="Calibri" pitchFamily="34" charset="0"/>
                          <a:ea typeface="Calibri" pitchFamily="34" charset="-122"/>
                          <a:cs typeface="Calibri" pitchFamily="34" charset="-120"/>
                        </a:rPr>
                        <a:t>Issue</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tc>
                  <a:txBody>
                    <a:bodyPr/>
                    <a:lstStyle/>
                    <a:p>
                      <a:pPr marL="0" indent="0">
                        <a:buNone/>
                      </a:pPr>
                      <a:r>
                        <a:rPr lang="en-US" sz="1100" b="1" dirty="0">
                          <a:solidFill>
                            <a:srgbClr val="F0F6FC"/>
                          </a:solidFill>
                          <a:latin typeface="Calibri" pitchFamily="34" charset="0"/>
                          <a:ea typeface="Calibri" pitchFamily="34" charset="-122"/>
                          <a:cs typeface="Calibri" pitchFamily="34" charset="-120"/>
                        </a:rPr>
                        <a:t>Root Cause</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tc>
                  <a:txBody>
                    <a:bodyPr/>
                    <a:lstStyle/>
                    <a:p>
                      <a:pPr marL="0" indent="0">
                        <a:buNone/>
                      </a:pPr>
                      <a:r>
                        <a:rPr lang="en-US" sz="1100" b="1" dirty="0">
                          <a:solidFill>
                            <a:srgbClr val="F0F6FC"/>
                          </a:solidFill>
                          <a:latin typeface="Calibri" pitchFamily="34" charset="0"/>
                          <a:ea typeface="Calibri" pitchFamily="34" charset="-122"/>
                          <a:cs typeface="Calibri" pitchFamily="34" charset="-120"/>
                        </a:rPr>
                        <a:t>Fix Applied</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passlib bcrypt crash</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Incompatible with bcrypt ≥4.x</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Replaced with direct bcrypt calls</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extLst>
                  <a:ext uri="{0D108BD9-81ED-4DB2-BD59-A6C34878D82A}">
                    <a16:rowId xmlns:a16="http://schemas.microsoft.com/office/drawing/2014/main" val="10001"/>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CORS + 500 on meeting list</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Duration typed as int; AI returns float</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Changed column &amp; schema to Float</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2"/>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401 errors after migration</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Old Spring JWT token in localStorage</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Clear localStorage on backend change</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extLst>
                  <a:ext uri="{0D108BD9-81ED-4DB2-BD59-A6C34878D82A}">
                    <a16:rowId xmlns:a16="http://schemas.microsoft.com/office/drawing/2014/main" val="10003"/>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1-hour video gave no result</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httpx timeout was 600s — too short</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Raised timeout to 7200s (2 hours)</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4"/>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RAM error on long audio</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Whisper FFT allocated 1.15 GB at once</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Added vad_filter=True</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extLst>
                  <a:ext uri="{0D108BD9-81ED-4DB2-BD59-A6C34878D82A}">
                    <a16:rowId xmlns:a16="http://schemas.microsoft.com/office/drawing/2014/main" val="10005"/>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Only first chunk analysed</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analysis.py used chunks[0] only</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Multi-chunk map-reduce strategy</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6"/>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Windows /tmp/ path error</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Hardcoded /tmp/ — not on Windows</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Replaced with tempfile.mkstemp()</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extLst>
                  <a:ext uri="{0D108BD9-81ED-4DB2-BD59-A6C34878D82A}">
                    <a16:rowId xmlns:a16="http://schemas.microsoft.com/office/drawing/2014/main" val="10007"/>
                  </a:ext>
                </a:extLst>
              </a:tr>
              <a:tr h="416560">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LLM paging file error</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F0F6FC"/>
                          </a:solidFill>
                          <a:latin typeface="Calibri" pitchFamily="34" charset="0"/>
                          <a:ea typeface="Calibri" pitchFamily="34" charset="-122"/>
                          <a:cs typeface="Calibri" pitchFamily="34" charset="-120"/>
                        </a:rPr>
                        <a:t>Windows can't memory-map 4 GB model</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rgbClr val="6EE7B7"/>
                          </a:solidFill>
                          <a:latin typeface="Calibri" pitchFamily="34" charset="0"/>
                          <a:ea typeface="Calibri" pitchFamily="34" charset="-122"/>
                          <a:cs typeface="Calibri" pitchFamily="34" charset="-120"/>
                        </a:rPr>
                        <a:t>Keep LLM resident; increase paging file</a:t>
                      </a:r>
                      <a:endParaRPr lang="en-US" sz="11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8"/>
                  </a:ext>
                </a:extLst>
              </a:tr>
            </a:tbl>
          </a:graphicData>
        </a:graphic>
      </p:graphicFrame>
      <p:sp>
        <p:nvSpPr>
          <p:cNvPr id="4" name="Text 1"/>
          <p:cNvSpPr/>
          <p:nvPr/>
        </p:nvSpPr>
        <p:spPr>
          <a:xfrm>
            <a:off x="457200" y="4828032"/>
            <a:ext cx="8229600" cy="201168"/>
          </a:xfrm>
          <a:prstGeom prst="rect">
            <a:avLst/>
          </a:prstGeom>
          <a:noFill/>
          <a:ln/>
        </p:spPr>
        <p:txBody>
          <a:bodyPr wrap="square" lIns="0" tIns="0" rIns="0" bIns="0" rtlCol="0" anchor="ctr"/>
          <a:lstStyle/>
          <a:p>
            <a:pPr marL="0" indent="0">
              <a:buNone/>
            </a:pPr>
            <a:r>
              <a:rPr lang="en-US" sz="1000" i="1" dirty="0">
                <a:solidFill>
                  <a:srgbClr val="93C5FD"/>
                </a:solidFill>
                <a:latin typeface="Calibri" pitchFamily="34" charset="0"/>
                <a:ea typeface="Calibri" pitchFamily="34" charset="-122"/>
                <a:cs typeface="Calibri" pitchFamily="34" charset="-120"/>
              </a:rPr>
              <a:t>Architectural win: Migrated Spring Boot backend to FastAPI — unified Python stack, faster AI integration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Performance Benchmarks</a:t>
            </a:r>
            <a:endParaRPr lang="en-US" sz="3400" dirty="0"/>
          </a:p>
        </p:txBody>
      </p:sp>
      <p:sp>
        <p:nvSpPr>
          <p:cNvPr id="3" name="Text 1"/>
          <p:cNvSpPr/>
          <p:nvPr/>
        </p:nvSpPr>
        <p:spPr>
          <a:xfrm>
            <a:off x="457200" y="896112"/>
            <a:ext cx="5486400" cy="201168"/>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RTX 3070  ·  Ryzen 7 5800H  ·  16 GB RAM</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70432"/>
          <a:ext cx="4663440" cy="1737360"/>
        </p:xfrm>
        <a:graphic>
          <a:graphicData uri="http://schemas.openxmlformats.org/drawingml/2006/table">
            <a:tbl>
              <a:tblPr/>
              <a:tblGrid>
                <a:gridCol w="12801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434340">
                <a:tc>
                  <a:txBody>
                    <a:bodyPr/>
                    <a:lstStyle/>
                    <a:p>
                      <a:pPr marL="0" indent="0" algn="ctr">
                        <a:buNone/>
                      </a:pPr>
                      <a:r>
                        <a:rPr lang="en-US" sz="1200" b="1" dirty="0">
                          <a:solidFill>
                            <a:srgbClr val="F0F6FC"/>
                          </a:solidFill>
                          <a:latin typeface="Calibri" pitchFamily="34" charset="0"/>
                          <a:ea typeface="Calibri" pitchFamily="34" charset="-122"/>
                          <a:cs typeface="Calibri" pitchFamily="34" charset="-120"/>
                        </a:rPr>
                        <a:t>File Type</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tc>
                  <a:txBody>
                    <a:bodyPr/>
                    <a:lstStyle/>
                    <a:p>
                      <a:pPr marL="0" indent="0" algn="ctr">
                        <a:buNone/>
                      </a:pPr>
                      <a:r>
                        <a:rPr lang="en-US" sz="1200" b="1" dirty="0">
                          <a:solidFill>
                            <a:srgbClr val="F0F6FC"/>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tc>
                  <a:txBody>
                    <a:bodyPr/>
                    <a:lstStyle/>
                    <a:p>
                      <a:pPr marL="0" indent="0" algn="ctr">
                        <a:buNone/>
                      </a:pPr>
                      <a:r>
                        <a:rPr lang="en-US" sz="1200" b="1" dirty="0">
                          <a:solidFill>
                            <a:srgbClr val="F0F6FC"/>
                          </a:solidFill>
                          <a:latin typeface="Calibri" pitchFamily="34" charset="0"/>
                          <a:ea typeface="Calibri" pitchFamily="34" charset="-122"/>
                          <a:cs typeface="Calibri" pitchFamily="34" charset="-120"/>
                        </a:rPr>
                        <a:t>Whisper</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tc>
                  <a:txBody>
                    <a:bodyPr/>
                    <a:lstStyle/>
                    <a:p>
                      <a:pPr marL="0" indent="0" algn="ctr">
                        <a:buNone/>
                      </a:pPr>
                      <a:r>
                        <a:rPr lang="en-US" sz="1200" b="1" dirty="0">
                          <a:solidFill>
                            <a:srgbClr val="F0F6FC"/>
                          </a:solidFill>
                          <a:latin typeface="Calibri" pitchFamily="34" charset="0"/>
                          <a:ea typeface="Calibri" pitchFamily="34" charset="-122"/>
                          <a:cs typeface="Calibri" pitchFamily="34" charset="-120"/>
                        </a:rPr>
                        <a:t>LLM</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tc>
                  <a:txBody>
                    <a:bodyPr/>
                    <a:lstStyle/>
                    <a:p>
                      <a:pPr marL="0" indent="0" algn="ctr">
                        <a:buNone/>
                      </a:pPr>
                      <a:r>
                        <a:rPr lang="en-US" sz="1200" b="1" dirty="0">
                          <a:solidFill>
                            <a:srgbClr val="F0F6FC"/>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434340">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4-min video</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dirty="0">
                          <a:solidFill>
                            <a:srgbClr val="8B949E"/>
                          </a:solidFill>
                          <a:latin typeface="Calibri" pitchFamily="34" charset="0"/>
                          <a:ea typeface="Calibri" pitchFamily="34" charset="-122"/>
                          <a:cs typeface="Calibri" pitchFamily="34" charset="-120"/>
                        </a:rPr>
                        <a:t>~50 MB</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~1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~6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b="1" dirty="0">
                          <a:solidFill>
                            <a:srgbClr val="6EE7B7"/>
                          </a:solidFill>
                          <a:latin typeface="Calibri" pitchFamily="34" charset="0"/>
                          <a:ea typeface="Calibri" pitchFamily="34" charset="-122"/>
                          <a:cs typeface="Calibri" pitchFamily="34" charset="-120"/>
                        </a:rPr>
                        <a:t>~7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1"/>
                  </a:ext>
                </a:extLst>
              </a:tr>
              <a:tr h="434340">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1-hour video</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lgn="ctr">
                        <a:buNone/>
                      </a:pPr>
                      <a:r>
                        <a:rPr lang="en-US" sz="1200" dirty="0">
                          <a:solidFill>
                            <a:srgbClr val="8B949E"/>
                          </a:solidFill>
                          <a:latin typeface="Calibri" pitchFamily="34" charset="0"/>
                          <a:ea typeface="Calibri" pitchFamily="34" charset="-122"/>
                          <a:cs typeface="Calibri" pitchFamily="34" charset="-120"/>
                        </a:rPr>
                        <a:t>~1 GB</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~12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~20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tc>
                  <a:txBody>
                    <a:bodyPr/>
                    <a:lstStyle/>
                    <a:p>
                      <a:pPr marL="0" indent="0" algn="ctr">
                        <a:buNone/>
                      </a:pPr>
                      <a:r>
                        <a:rPr lang="en-US" sz="1200" b="1" dirty="0">
                          <a:solidFill>
                            <a:srgbClr val="FCD34D"/>
                          </a:solidFill>
                          <a:latin typeface="Calibri" pitchFamily="34" charset="0"/>
                          <a:ea typeface="Calibri" pitchFamily="34" charset="-122"/>
                          <a:cs typeface="Calibri" pitchFamily="34" charset="-120"/>
                        </a:rPr>
                        <a:t>~32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333"/>
                    </a:solidFill>
                  </a:tcPr>
                </a:tc>
                <a:extLst>
                  <a:ext uri="{0D108BD9-81ED-4DB2-BD59-A6C34878D82A}">
                    <a16:rowId xmlns:a16="http://schemas.microsoft.com/office/drawing/2014/main" val="10002"/>
                  </a:ext>
                </a:extLst>
              </a:tr>
              <a:tr h="434340">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50-page PDF</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dirty="0">
                          <a:solidFill>
                            <a:srgbClr val="8B949E"/>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dirty="0">
                          <a:solidFill>
                            <a:srgbClr val="8B949E"/>
                          </a:solidFill>
                          <a:latin typeface="Calibri" pitchFamily="34" charset="0"/>
                          <a:ea typeface="Calibri" pitchFamily="34" charset="-122"/>
                          <a:cs typeface="Calibri" pitchFamily="34" charset="-120"/>
                        </a:rPr>
                        <a:t>Skipped</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dirty="0">
                          <a:solidFill>
                            <a:srgbClr val="F0F6FC"/>
                          </a:solidFill>
                          <a:latin typeface="Calibri" pitchFamily="34" charset="0"/>
                          <a:ea typeface="Calibri" pitchFamily="34" charset="-122"/>
                          <a:cs typeface="Calibri" pitchFamily="34" charset="-120"/>
                        </a:rPr>
                        <a:t>~4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lgn="ctr">
                        <a:buNone/>
                      </a:pPr>
                      <a:r>
                        <a:rPr lang="en-US" sz="1200" b="1" dirty="0">
                          <a:solidFill>
                            <a:srgbClr val="93C5FD"/>
                          </a:solidFill>
                          <a:latin typeface="Calibri" pitchFamily="34" charset="0"/>
                          <a:ea typeface="Calibri" pitchFamily="34" charset="-122"/>
                          <a:cs typeface="Calibri" pitchFamily="34" charset="-120"/>
                        </a:rPr>
                        <a:t>~4 min</a:t>
                      </a:r>
                      <a:endParaRPr lang="en-US" sz="1200" dirty="0">
                        <a:latin typeface="Calibri" charset="0"/>
                        <a:ea typeface="Calibri" charset="0"/>
                        <a:cs typeface="Calibri" charset="0"/>
                      </a:endParaRPr>
                    </a:p>
                  </a:txBody>
                  <a:tcPr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3"/>
                  </a:ext>
                </a:extLst>
              </a:tr>
            </a:tbl>
          </a:graphicData>
        </a:graphic>
      </p:graphicFrame>
      <p:graphicFrame>
        <p:nvGraphicFramePr>
          <p:cNvPr id="5" name="Chart 0"/>
          <p:cNvGraphicFramePr/>
          <p:nvPr/>
        </p:nvGraphicFramePr>
        <p:xfrm>
          <a:off x="6035040" y="1097280"/>
          <a:ext cx="274320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457200" y="3063240"/>
            <a:ext cx="8229600" cy="1828800"/>
          </a:xfrm>
          <a:prstGeom prst="rect">
            <a:avLst/>
          </a:prstGeom>
          <a:solidFill>
            <a:srgbClr val="161B22"/>
          </a:solidFill>
          <a:ln w="9525">
            <a:solidFill>
              <a:srgbClr val="30363D"/>
            </a:solidFill>
            <a:prstDash val="solid"/>
          </a:ln>
        </p:spPr>
      </p:sp>
      <p:sp>
        <p:nvSpPr>
          <p:cNvPr id="7" name="Shape 3"/>
          <p:cNvSpPr/>
          <p:nvPr/>
        </p:nvSpPr>
        <p:spPr>
          <a:xfrm>
            <a:off x="457200" y="3063240"/>
            <a:ext cx="45720" cy="1828800"/>
          </a:xfrm>
          <a:prstGeom prst="rect">
            <a:avLst/>
          </a:prstGeom>
          <a:solidFill>
            <a:srgbClr val="3B82F6"/>
          </a:solidFill>
          <a:ln w="12700">
            <a:solidFill>
              <a:srgbClr val="3B82F6"/>
            </a:solidFill>
            <a:prstDash val="solid"/>
          </a:ln>
        </p:spPr>
      </p:sp>
      <p:sp>
        <p:nvSpPr>
          <p:cNvPr id="8" name="Text 4"/>
          <p:cNvSpPr/>
          <p:nvPr/>
        </p:nvSpPr>
        <p:spPr>
          <a:xfrm>
            <a:off x="621792" y="3108960"/>
            <a:ext cx="2743200" cy="256032"/>
          </a:xfrm>
          <a:prstGeom prst="rect">
            <a:avLst/>
          </a:prstGeom>
          <a:noFill/>
          <a:ln/>
        </p:spPr>
        <p:txBody>
          <a:bodyPr wrap="square" lIns="0" tIns="0" rIns="0" bIns="0" rtlCol="0" anchor="ctr"/>
          <a:lstStyle/>
          <a:p>
            <a:pPr marL="0" indent="0">
              <a:buNone/>
            </a:pPr>
            <a:r>
              <a:rPr lang="en-US" sz="1300" b="1" dirty="0">
                <a:solidFill>
                  <a:srgbClr val="93C5FD"/>
                </a:solidFill>
                <a:latin typeface="Georgia" pitchFamily="34" charset="0"/>
                <a:ea typeface="Georgia" pitchFamily="34" charset="-122"/>
                <a:cs typeface="Georgia" pitchFamily="34" charset="-120"/>
              </a:rPr>
              <a:t>Key Optimizations</a:t>
            </a:r>
            <a:endParaRPr lang="en-US" sz="1300" dirty="0"/>
          </a:p>
        </p:txBody>
      </p:sp>
      <p:sp>
        <p:nvSpPr>
          <p:cNvPr id="4" name="Text 5"/>
          <p:cNvSpPr/>
          <p:nvPr/>
        </p:nvSpPr>
        <p:spPr>
          <a:xfrm>
            <a:off x="621792" y="3429000"/>
            <a:ext cx="7955280" cy="1325880"/>
          </a:xfrm>
          <a:prstGeom prst="rect">
            <a:avLst/>
          </a:prstGeom>
          <a:noFill/>
          <a:ln/>
        </p:spPr>
        <p:txBody>
          <a:bodyPr wrap="square" lIns="0" tIns="50800" rIns="0" bIns="0" rtlCol="0" anchor="t"/>
          <a:lstStyle/>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compute_type="int8"  —  Whisper fits within 8 GB VRAM</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vad_filter=True  —  prevents 1.15 GB FFT memory spike</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LLM lazy-loaded on first request, then kept resident in memory</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Map-reduce chunking applied to transcripts exceeding 2,000 words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SaaS Pricing &amp; Tiers</a:t>
            </a:r>
            <a:endParaRPr lang="en-US" sz="3400" dirty="0"/>
          </a:p>
        </p:txBody>
      </p:sp>
      <p:sp>
        <p:nvSpPr>
          <p:cNvPr id="3" name="Shape 1"/>
          <p:cNvSpPr/>
          <p:nvPr/>
        </p:nvSpPr>
        <p:spPr>
          <a:xfrm>
            <a:off x="548640" y="1005840"/>
            <a:ext cx="2560320" cy="3794760"/>
          </a:xfrm>
          <a:prstGeom prst="rect">
            <a:avLst/>
          </a:prstGeom>
          <a:solidFill>
            <a:srgbClr val="161B22"/>
          </a:solidFill>
          <a:ln w="12700">
            <a:solidFill>
              <a:srgbClr val="8B949E"/>
            </a:solidFill>
            <a:prstDash val="solid"/>
          </a:ln>
        </p:spPr>
      </p:sp>
      <p:sp>
        <p:nvSpPr>
          <p:cNvPr id="4" name="Text 2"/>
          <p:cNvSpPr/>
          <p:nvPr/>
        </p:nvSpPr>
        <p:spPr>
          <a:xfrm>
            <a:off x="548640" y="1188720"/>
            <a:ext cx="2560320" cy="329184"/>
          </a:xfrm>
          <a:prstGeom prst="rect">
            <a:avLst/>
          </a:prstGeom>
          <a:noFill/>
          <a:ln/>
        </p:spPr>
        <p:txBody>
          <a:bodyPr wrap="square" lIns="0" tIns="0" rIns="0" bIns="0" rtlCol="0" anchor="ctr"/>
          <a:lstStyle/>
          <a:p>
            <a:pPr marL="0" indent="0" algn="ctr">
              <a:buNone/>
            </a:pPr>
            <a:r>
              <a:rPr lang="en-US" sz="1600" b="1" dirty="0">
                <a:solidFill>
                  <a:srgbClr val="8B949E"/>
                </a:solidFill>
                <a:latin typeface="Georgia" pitchFamily="34" charset="0"/>
                <a:ea typeface="Georgia" pitchFamily="34" charset="-122"/>
                <a:cs typeface="Georgia" pitchFamily="34" charset="-120"/>
              </a:rPr>
              <a:t>FREE</a:t>
            </a:r>
            <a:endParaRPr lang="en-US" sz="1600" dirty="0"/>
          </a:p>
        </p:txBody>
      </p:sp>
      <p:sp>
        <p:nvSpPr>
          <p:cNvPr id="5" name="Text 3"/>
          <p:cNvSpPr/>
          <p:nvPr/>
        </p:nvSpPr>
        <p:spPr>
          <a:xfrm>
            <a:off x="548640" y="1554480"/>
            <a:ext cx="2560320" cy="658368"/>
          </a:xfrm>
          <a:prstGeom prst="rect">
            <a:avLst/>
          </a:prstGeom>
          <a:noFill/>
          <a:ln/>
        </p:spPr>
        <p:txBody>
          <a:bodyPr wrap="square" rtlCol="0" anchor="ctr"/>
          <a:lstStyle/>
          <a:p>
            <a:pPr marL="0" indent="0" algn="ctr">
              <a:buNone/>
            </a:pPr>
            <a:r>
              <a:rPr lang="en-US" sz="3600" b="1" dirty="0">
                <a:solidFill>
                  <a:srgbClr val="8B949E"/>
                </a:solidFill>
                <a:latin typeface="Calibri" pitchFamily="34" charset="0"/>
                <a:ea typeface="Calibri" pitchFamily="34" charset="-122"/>
                <a:cs typeface="Calibri" pitchFamily="34" charset="-120"/>
              </a:rPr>
              <a:t>$0</a:t>
            </a:r>
            <a:r>
              <a:rPr lang="en-US" sz="1300" dirty="0">
                <a:solidFill>
                  <a:srgbClr val="8B949E"/>
                </a:solidFill>
                <a:latin typeface="Calibri" pitchFamily="34" charset="0"/>
                <a:ea typeface="Calibri" pitchFamily="34" charset="-122"/>
                <a:cs typeface="Calibri" pitchFamily="34" charset="-120"/>
              </a:rPr>
              <a:t>/month</a:t>
            </a:r>
            <a:endParaRPr lang="en-US" sz="3600" dirty="0"/>
          </a:p>
        </p:txBody>
      </p:sp>
      <p:sp>
        <p:nvSpPr>
          <p:cNvPr id="6" name="Shape 4"/>
          <p:cNvSpPr/>
          <p:nvPr/>
        </p:nvSpPr>
        <p:spPr>
          <a:xfrm>
            <a:off x="777240" y="2286000"/>
            <a:ext cx="2103120" cy="0"/>
          </a:xfrm>
          <a:prstGeom prst="line">
            <a:avLst/>
          </a:prstGeom>
          <a:noFill/>
          <a:ln w="9525">
            <a:solidFill>
              <a:srgbClr val="30363D"/>
            </a:solidFill>
            <a:prstDash val="solid"/>
          </a:ln>
        </p:spPr>
      </p:sp>
      <p:sp>
        <p:nvSpPr>
          <p:cNvPr id="7" name="Text 5"/>
          <p:cNvSpPr/>
          <p:nvPr/>
        </p:nvSpPr>
        <p:spPr>
          <a:xfrm>
            <a:off x="713232" y="2423160"/>
            <a:ext cx="2304288" cy="2194560"/>
          </a:xfrm>
          <a:prstGeom prst="rect">
            <a:avLst/>
          </a:prstGeom>
          <a:noFill/>
          <a:ln/>
        </p:spPr>
        <p:txBody>
          <a:bodyPr wrap="square" lIns="0" tIns="50800" rIns="0" bIns="0" rtlCol="0" anchor="t"/>
          <a:lstStyle/>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30 min transcription / month</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10 AI summaries / month</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Audio, video, PDF support</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Reset: 1st of each month</a:t>
            </a:r>
            <a:endParaRPr lang="en-US" sz="1200" dirty="0"/>
          </a:p>
        </p:txBody>
      </p:sp>
      <p:sp>
        <p:nvSpPr>
          <p:cNvPr id="8" name="Shape 6"/>
          <p:cNvSpPr/>
          <p:nvPr/>
        </p:nvSpPr>
        <p:spPr>
          <a:xfrm>
            <a:off x="3291840" y="1005840"/>
            <a:ext cx="2560320" cy="3794760"/>
          </a:xfrm>
          <a:prstGeom prst="rect">
            <a:avLst/>
          </a:prstGeom>
          <a:solidFill>
            <a:srgbClr val="7C3AED"/>
          </a:solidFill>
          <a:ln w="25400">
            <a:solidFill>
              <a:srgbClr val="7C3AED"/>
            </a:solidFill>
            <a:prstDash val="solid"/>
          </a:ln>
          <a:effectLst>
            <a:outerShdw blurRad="254000" dist="50800" dir="8100000" algn="bl" rotWithShape="0">
              <a:srgbClr val="7C3AED">
                <a:alpha val="40000"/>
              </a:srgbClr>
            </a:outerShdw>
          </a:effectLst>
        </p:spPr>
      </p:sp>
      <p:sp>
        <p:nvSpPr>
          <p:cNvPr id="9" name="Text 7"/>
          <p:cNvSpPr/>
          <p:nvPr/>
        </p:nvSpPr>
        <p:spPr>
          <a:xfrm>
            <a:off x="3291840" y="1188720"/>
            <a:ext cx="2560320" cy="329184"/>
          </a:xfrm>
          <a:prstGeom prst="rect">
            <a:avLst/>
          </a:prstGeom>
          <a:noFill/>
          <a:ln/>
        </p:spPr>
        <p:txBody>
          <a:bodyPr wrap="square" lIns="0" tIns="0" rIns="0" bIns="0" rtlCol="0" anchor="ctr"/>
          <a:lstStyle/>
          <a:p>
            <a:pPr marL="0" indent="0" algn="ctr">
              <a:buNone/>
            </a:pPr>
            <a:r>
              <a:rPr lang="en-US" sz="1600" b="1" dirty="0">
                <a:solidFill>
                  <a:srgbClr val="F0F6FC"/>
                </a:solidFill>
                <a:latin typeface="Georgia" pitchFamily="34" charset="0"/>
                <a:ea typeface="Georgia" pitchFamily="34" charset="-122"/>
                <a:cs typeface="Georgia" pitchFamily="34" charset="-120"/>
              </a:rPr>
              <a:t>PRO</a:t>
            </a:r>
            <a:endParaRPr lang="en-US" sz="1600" dirty="0"/>
          </a:p>
        </p:txBody>
      </p:sp>
      <p:sp>
        <p:nvSpPr>
          <p:cNvPr id="10" name="Text 8"/>
          <p:cNvSpPr/>
          <p:nvPr/>
        </p:nvSpPr>
        <p:spPr>
          <a:xfrm>
            <a:off x="3291840" y="1554480"/>
            <a:ext cx="2560320" cy="658368"/>
          </a:xfrm>
          <a:prstGeom prst="rect">
            <a:avLst/>
          </a:prstGeom>
          <a:noFill/>
          <a:ln/>
        </p:spPr>
        <p:txBody>
          <a:bodyPr wrap="square" rtlCol="0" anchor="ctr"/>
          <a:lstStyle/>
          <a:p>
            <a:pPr marL="0" indent="0" algn="ctr">
              <a:buNone/>
            </a:pPr>
            <a:r>
              <a:rPr lang="en-US" sz="3600" b="1" dirty="0">
                <a:solidFill>
                  <a:srgbClr val="F0F6FC"/>
                </a:solidFill>
                <a:latin typeface="Calibri" pitchFamily="34" charset="0"/>
                <a:ea typeface="Calibri" pitchFamily="34" charset="-122"/>
                <a:cs typeface="Calibri" pitchFamily="34" charset="-120"/>
              </a:rPr>
              <a:t>$9.99</a:t>
            </a:r>
            <a:r>
              <a:rPr lang="en-US" sz="1300" dirty="0">
                <a:solidFill>
                  <a:srgbClr val="CCCCFF"/>
                </a:solidFill>
                <a:latin typeface="Calibri" pitchFamily="34" charset="0"/>
                <a:ea typeface="Calibri" pitchFamily="34" charset="-122"/>
                <a:cs typeface="Calibri" pitchFamily="34" charset="-120"/>
              </a:rPr>
              <a:t>/month</a:t>
            </a:r>
            <a:endParaRPr lang="en-US" sz="3600" dirty="0"/>
          </a:p>
        </p:txBody>
      </p:sp>
      <p:sp>
        <p:nvSpPr>
          <p:cNvPr id="11" name="Shape 9"/>
          <p:cNvSpPr/>
          <p:nvPr/>
        </p:nvSpPr>
        <p:spPr>
          <a:xfrm>
            <a:off x="3520440" y="2286000"/>
            <a:ext cx="2103120" cy="0"/>
          </a:xfrm>
          <a:prstGeom prst="line">
            <a:avLst/>
          </a:prstGeom>
          <a:noFill/>
          <a:ln w="9525">
            <a:solidFill>
              <a:srgbClr val="9999DD"/>
            </a:solidFill>
            <a:prstDash val="solid"/>
          </a:ln>
        </p:spPr>
      </p:sp>
      <p:sp>
        <p:nvSpPr>
          <p:cNvPr id="12" name="Text 10"/>
          <p:cNvSpPr/>
          <p:nvPr/>
        </p:nvSpPr>
        <p:spPr>
          <a:xfrm>
            <a:off x="3456432" y="2423160"/>
            <a:ext cx="2304288" cy="2194560"/>
          </a:xfrm>
          <a:prstGeom prst="rect">
            <a:avLst/>
          </a:prstGeom>
          <a:noFill/>
          <a:ln/>
        </p:spPr>
        <p:txBody>
          <a:bodyPr wrap="square" lIns="0" tIns="50800" rIns="0" bIns="0" rtlCol="0" anchor="t"/>
          <a:lstStyle/>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600 min transcription / month</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100 AI summaries / month</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Priority processing</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Reset: on Stripe invoice payment</a:t>
            </a:r>
            <a:endParaRPr lang="en-US" sz="1200" dirty="0"/>
          </a:p>
        </p:txBody>
      </p:sp>
      <p:sp>
        <p:nvSpPr>
          <p:cNvPr id="13" name="Shape 11"/>
          <p:cNvSpPr/>
          <p:nvPr/>
        </p:nvSpPr>
        <p:spPr>
          <a:xfrm>
            <a:off x="6035040" y="1005840"/>
            <a:ext cx="2560320" cy="3794760"/>
          </a:xfrm>
          <a:prstGeom prst="rect">
            <a:avLst/>
          </a:prstGeom>
          <a:solidFill>
            <a:srgbClr val="161B22"/>
          </a:solidFill>
          <a:ln w="12700">
            <a:solidFill>
              <a:srgbClr val="3B82F6"/>
            </a:solidFill>
            <a:prstDash val="solid"/>
          </a:ln>
        </p:spPr>
      </p:sp>
      <p:sp>
        <p:nvSpPr>
          <p:cNvPr id="14" name="Text 12"/>
          <p:cNvSpPr/>
          <p:nvPr/>
        </p:nvSpPr>
        <p:spPr>
          <a:xfrm>
            <a:off x="6035040" y="1188720"/>
            <a:ext cx="2560320" cy="329184"/>
          </a:xfrm>
          <a:prstGeom prst="rect">
            <a:avLst/>
          </a:prstGeom>
          <a:noFill/>
          <a:ln/>
        </p:spPr>
        <p:txBody>
          <a:bodyPr wrap="square" lIns="0" tIns="0" rIns="0" bIns="0" rtlCol="0" anchor="ctr"/>
          <a:lstStyle/>
          <a:p>
            <a:pPr marL="0" indent="0" algn="ctr">
              <a:buNone/>
            </a:pPr>
            <a:r>
              <a:rPr lang="en-US" sz="1600" b="1" dirty="0">
                <a:solidFill>
                  <a:srgbClr val="3B82F6"/>
                </a:solidFill>
                <a:latin typeface="Georgia" pitchFamily="34" charset="0"/>
                <a:ea typeface="Georgia" pitchFamily="34" charset="-122"/>
                <a:cs typeface="Georgia" pitchFamily="34" charset="-120"/>
              </a:rPr>
              <a:t>BUSINESS</a:t>
            </a:r>
            <a:endParaRPr lang="en-US" sz="1600" dirty="0"/>
          </a:p>
        </p:txBody>
      </p:sp>
      <p:sp>
        <p:nvSpPr>
          <p:cNvPr id="15" name="Text 13"/>
          <p:cNvSpPr/>
          <p:nvPr/>
        </p:nvSpPr>
        <p:spPr>
          <a:xfrm>
            <a:off x="6035040" y="1554480"/>
            <a:ext cx="2560320" cy="658368"/>
          </a:xfrm>
          <a:prstGeom prst="rect">
            <a:avLst/>
          </a:prstGeom>
          <a:noFill/>
          <a:ln/>
        </p:spPr>
        <p:txBody>
          <a:bodyPr wrap="square" rtlCol="0" anchor="ctr"/>
          <a:lstStyle/>
          <a:p>
            <a:pPr marL="0" indent="0" algn="ctr">
              <a:buNone/>
            </a:pPr>
            <a:r>
              <a:rPr lang="en-US" sz="3600" b="1" dirty="0">
                <a:solidFill>
                  <a:srgbClr val="3B82F6"/>
                </a:solidFill>
                <a:latin typeface="Calibri" pitchFamily="34" charset="0"/>
                <a:ea typeface="Calibri" pitchFamily="34" charset="-122"/>
                <a:cs typeface="Calibri" pitchFamily="34" charset="-120"/>
              </a:rPr>
              <a:t>$29.99</a:t>
            </a:r>
            <a:r>
              <a:rPr lang="en-US" sz="1300" dirty="0">
                <a:solidFill>
                  <a:srgbClr val="8B949E"/>
                </a:solidFill>
                <a:latin typeface="Calibri" pitchFamily="34" charset="0"/>
                <a:ea typeface="Calibri" pitchFamily="34" charset="-122"/>
                <a:cs typeface="Calibri" pitchFamily="34" charset="-120"/>
              </a:rPr>
              <a:t>/month</a:t>
            </a:r>
            <a:endParaRPr lang="en-US" sz="3600" dirty="0"/>
          </a:p>
        </p:txBody>
      </p:sp>
      <p:sp>
        <p:nvSpPr>
          <p:cNvPr id="16" name="Shape 14"/>
          <p:cNvSpPr/>
          <p:nvPr/>
        </p:nvSpPr>
        <p:spPr>
          <a:xfrm>
            <a:off x="6263640" y="2286000"/>
            <a:ext cx="2103120" cy="0"/>
          </a:xfrm>
          <a:prstGeom prst="line">
            <a:avLst/>
          </a:prstGeom>
          <a:noFill/>
          <a:ln w="9525">
            <a:solidFill>
              <a:srgbClr val="30363D"/>
            </a:solidFill>
            <a:prstDash val="solid"/>
          </a:ln>
        </p:spPr>
      </p:sp>
      <p:sp>
        <p:nvSpPr>
          <p:cNvPr id="17" name="Text 15"/>
          <p:cNvSpPr/>
          <p:nvPr/>
        </p:nvSpPr>
        <p:spPr>
          <a:xfrm>
            <a:off x="6199632" y="2423160"/>
            <a:ext cx="2304288" cy="2194560"/>
          </a:xfrm>
          <a:prstGeom prst="rect">
            <a:avLst/>
          </a:prstGeom>
          <a:noFill/>
          <a:ln/>
        </p:spPr>
        <p:txBody>
          <a:bodyPr wrap="square" lIns="0" tIns="50800" rIns="0" bIns="0" rtlCol="0" anchor="t"/>
          <a:lstStyle/>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Unlimited transcription</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Unlimited AI summaries</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Admin-level features</a:t>
            </a:r>
            <a:endParaRPr lang="en-US" sz="1200" dirty="0"/>
          </a:p>
          <a:p>
            <a:pPr marL="177800" indent="-177800">
              <a:spcAft>
                <a:spcPts val="700"/>
              </a:spcAft>
              <a:buSzPct val="100000"/>
              <a:buChar char="•"/>
            </a:pPr>
            <a:r>
              <a:rPr lang="en-US" sz="1200" dirty="0">
                <a:solidFill>
                  <a:srgbClr val="F0F6FC"/>
                </a:solidFill>
                <a:latin typeface="Calibri" pitchFamily="34" charset="0"/>
                <a:ea typeface="Calibri" pitchFamily="34" charset="-122"/>
                <a:cs typeface="Calibri" pitchFamily="34" charset="-120"/>
              </a:rPr>
              <a:t>Team management (planned)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Roadmap — What's Still To Build</a:t>
            </a:r>
            <a:endParaRPr lang="en-US" sz="3400" dirty="0"/>
          </a:p>
        </p:txBody>
      </p:sp>
      <p:sp>
        <p:nvSpPr>
          <p:cNvPr id="3" name="Shape 1"/>
          <p:cNvSpPr/>
          <p:nvPr/>
        </p:nvSpPr>
        <p:spPr>
          <a:xfrm>
            <a:off x="457200" y="987552"/>
            <a:ext cx="8229600" cy="1033272"/>
          </a:xfrm>
          <a:prstGeom prst="rect">
            <a:avLst/>
          </a:prstGeom>
          <a:solidFill>
            <a:srgbClr val="161B22"/>
          </a:solidFill>
          <a:ln w="9525">
            <a:solidFill>
              <a:srgbClr val="30363D"/>
            </a:solidFill>
            <a:prstDash val="solid"/>
          </a:ln>
        </p:spPr>
      </p:sp>
      <p:sp>
        <p:nvSpPr>
          <p:cNvPr id="4" name="Shape 2"/>
          <p:cNvSpPr/>
          <p:nvPr/>
        </p:nvSpPr>
        <p:spPr>
          <a:xfrm>
            <a:off x="457200" y="987552"/>
            <a:ext cx="45720" cy="1033272"/>
          </a:xfrm>
          <a:prstGeom prst="rect">
            <a:avLst/>
          </a:prstGeom>
          <a:solidFill>
            <a:srgbClr val="EF4444"/>
          </a:solidFill>
          <a:ln w="12700">
            <a:solidFill>
              <a:srgbClr val="EF4444"/>
            </a:solidFill>
            <a:prstDash val="solid"/>
          </a:ln>
        </p:spPr>
      </p:sp>
      <p:sp>
        <p:nvSpPr>
          <p:cNvPr id="5" name="Text 3"/>
          <p:cNvSpPr/>
          <p:nvPr/>
        </p:nvSpPr>
        <p:spPr>
          <a:xfrm>
            <a:off x="621792" y="1060704"/>
            <a:ext cx="7863840" cy="237744"/>
          </a:xfrm>
          <a:prstGeom prst="rect">
            <a:avLst/>
          </a:prstGeom>
          <a:noFill/>
          <a:ln/>
        </p:spPr>
        <p:txBody>
          <a:bodyPr wrap="square" lIns="0" tIns="0" rIns="0" bIns="0" rtlCol="0" anchor="ctr"/>
          <a:lstStyle/>
          <a:p>
            <a:pPr marL="0" indent="0">
              <a:buNone/>
            </a:pPr>
            <a:r>
              <a:rPr lang="en-US" sz="1050" b="1" kern="0" spc="100" dirty="0">
                <a:solidFill>
                  <a:srgbClr val="FCA5A5"/>
                </a:solidFill>
                <a:latin typeface="Calibri" pitchFamily="34" charset="0"/>
                <a:ea typeface="Calibri" pitchFamily="34" charset="-122"/>
                <a:cs typeface="Calibri" pitchFamily="34" charset="-120"/>
              </a:rPr>
              <a:t>HIGH PRIORITY — Production-Critical</a:t>
            </a:r>
            <a:endParaRPr lang="en-US" sz="1050" dirty="0"/>
          </a:p>
        </p:txBody>
      </p:sp>
      <p:sp>
        <p:nvSpPr>
          <p:cNvPr id="6" name="Text 4"/>
          <p:cNvSpPr/>
          <p:nvPr/>
        </p:nvSpPr>
        <p:spPr>
          <a:xfrm>
            <a:off x="621792" y="1316736"/>
            <a:ext cx="7955280" cy="649224"/>
          </a:xfrm>
          <a:prstGeom prst="rect">
            <a:avLst/>
          </a:prstGeom>
          <a:noFill/>
          <a:ln/>
        </p:spPr>
        <p:txBody>
          <a:bodyPr wrap="square" lIns="0" tIns="50800" rIns="0" bIns="0" rtlCol="0" anchor="t"/>
          <a:lstStyle/>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PostgreSQL migration — replace SQLite for multi-user production</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Celery + Redis job queue — replace in-process BackgroundTasks (lost on restart)</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Email notifications — payment failed, job completed alerts</a:t>
            </a:r>
            <a:endParaRPr lang="en-US" sz="1100" dirty="0"/>
          </a:p>
        </p:txBody>
      </p:sp>
      <p:sp>
        <p:nvSpPr>
          <p:cNvPr id="7" name="Shape 5"/>
          <p:cNvSpPr/>
          <p:nvPr/>
        </p:nvSpPr>
        <p:spPr>
          <a:xfrm>
            <a:off x="457200" y="2075688"/>
            <a:ext cx="8229600" cy="1261872"/>
          </a:xfrm>
          <a:prstGeom prst="rect">
            <a:avLst/>
          </a:prstGeom>
          <a:solidFill>
            <a:srgbClr val="161B22"/>
          </a:solidFill>
          <a:ln w="9525">
            <a:solidFill>
              <a:srgbClr val="30363D"/>
            </a:solidFill>
            <a:prstDash val="solid"/>
          </a:ln>
        </p:spPr>
      </p:sp>
      <p:sp>
        <p:nvSpPr>
          <p:cNvPr id="8" name="Shape 6"/>
          <p:cNvSpPr/>
          <p:nvPr/>
        </p:nvSpPr>
        <p:spPr>
          <a:xfrm>
            <a:off x="457200" y="2075688"/>
            <a:ext cx="45720" cy="1261872"/>
          </a:xfrm>
          <a:prstGeom prst="rect">
            <a:avLst/>
          </a:prstGeom>
          <a:solidFill>
            <a:srgbClr val="F59E0B"/>
          </a:solidFill>
          <a:ln w="12700">
            <a:solidFill>
              <a:srgbClr val="F59E0B"/>
            </a:solidFill>
            <a:prstDash val="solid"/>
          </a:ln>
        </p:spPr>
      </p:sp>
      <p:sp>
        <p:nvSpPr>
          <p:cNvPr id="9" name="Text 7"/>
          <p:cNvSpPr/>
          <p:nvPr/>
        </p:nvSpPr>
        <p:spPr>
          <a:xfrm>
            <a:off x="621792" y="2148840"/>
            <a:ext cx="7863840" cy="237744"/>
          </a:xfrm>
          <a:prstGeom prst="rect">
            <a:avLst/>
          </a:prstGeom>
          <a:noFill/>
          <a:ln/>
        </p:spPr>
        <p:txBody>
          <a:bodyPr wrap="square" lIns="0" tIns="0" rIns="0" bIns="0" rtlCol="0" anchor="ctr"/>
          <a:lstStyle/>
          <a:p>
            <a:pPr marL="0" indent="0">
              <a:buNone/>
            </a:pPr>
            <a:r>
              <a:rPr lang="en-US" sz="1050" b="1" kern="0" spc="100" dirty="0">
                <a:solidFill>
                  <a:srgbClr val="FCD34D"/>
                </a:solidFill>
                <a:latin typeface="Calibri" pitchFamily="34" charset="0"/>
                <a:ea typeface="Calibri" pitchFamily="34" charset="-122"/>
                <a:cs typeface="Calibri" pitchFamily="34" charset="-120"/>
              </a:rPr>
              <a:t>MEDIUM PRIORITY — Feature Complete</a:t>
            </a:r>
            <a:endParaRPr lang="en-US" sz="1050" dirty="0"/>
          </a:p>
        </p:txBody>
      </p:sp>
      <p:sp>
        <p:nvSpPr>
          <p:cNvPr id="10" name="Text 8"/>
          <p:cNvSpPr/>
          <p:nvPr/>
        </p:nvSpPr>
        <p:spPr>
          <a:xfrm>
            <a:off x="621792" y="2404872"/>
            <a:ext cx="7955280" cy="877824"/>
          </a:xfrm>
          <a:prstGeom prst="rect">
            <a:avLst/>
          </a:prstGeom>
          <a:noFill/>
          <a:ln/>
        </p:spPr>
        <p:txBody>
          <a:bodyPr wrap="square" lIns="0" tIns="50800" rIns="0" bIns="0" rtlCol="0" anchor="t"/>
          <a:lstStyle/>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PDF export — download meeting summaries as formatted PDF</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Speaker diarization — identify who said what in meetings</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Real-time updates — socket.io instead of polling</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Meeting search — full-text search on transcripts</a:t>
            </a:r>
            <a:endParaRPr lang="en-US" sz="1100" dirty="0"/>
          </a:p>
        </p:txBody>
      </p:sp>
      <p:sp>
        <p:nvSpPr>
          <p:cNvPr id="11" name="Shape 9"/>
          <p:cNvSpPr/>
          <p:nvPr/>
        </p:nvSpPr>
        <p:spPr>
          <a:xfrm>
            <a:off x="457200" y="3392424"/>
            <a:ext cx="8229600" cy="1261872"/>
          </a:xfrm>
          <a:prstGeom prst="rect">
            <a:avLst/>
          </a:prstGeom>
          <a:solidFill>
            <a:srgbClr val="161B22"/>
          </a:solidFill>
          <a:ln w="9525">
            <a:solidFill>
              <a:srgbClr val="30363D"/>
            </a:solidFill>
            <a:prstDash val="solid"/>
          </a:ln>
        </p:spPr>
      </p:sp>
      <p:sp>
        <p:nvSpPr>
          <p:cNvPr id="12" name="Shape 10"/>
          <p:cNvSpPr/>
          <p:nvPr/>
        </p:nvSpPr>
        <p:spPr>
          <a:xfrm>
            <a:off x="457200" y="3392424"/>
            <a:ext cx="45720" cy="1261872"/>
          </a:xfrm>
          <a:prstGeom prst="rect">
            <a:avLst/>
          </a:prstGeom>
          <a:solidFill>
            <a:srgbClr val="10B981"/>
          </a:solidFill>
          <a:ln w="12700">
            <a:solidFill>
              <a:srgbClr val="10B981"/>
            </a:solidFill>
            <a:prstDash val="solid"/>
          </a:ln>
        </p:spPr>
      </p:sp>
      <p:sp>
        <p:nvSpPr>
          <p:cNvPr id="13" name="Text 11"/>
          <p:cNvSpPr/>
          <p:nvPr/>
        </p:nvSpPr>
        <p:spPr>
          <a:xfrm>
            <a:off x="621792" y="3465576"/>
            <a:ext cx="7863840" cy="237744"/>
          </a:xfrm>
          <a:prstGeom prst="rect">
            <a:avLst/>
          </a:prstGeom>
          <a:noFill/>
          <a:ln/>
        </p:spPr>
        <p:txBody>
          <a:bodyPr wrap="square" lIns="0" tIns="0" rIns="0" bIns="0" rtlCol="0" anchor="ctr"/>
          <a:lstStyle/>
          <a:p>
            <a:pPr marL="0" indent="0">
              <a:buNone/>
            </a:pPr>
            <a:r>
              <a:rPr lang="en-US" sz="1050" b="1" kern="0" spc="100" dirty="0">
                <a:solidFill>
                  <a:srgbClr val="6EE7B7"/>
                </a:solidFill>
                <a:latin typeface="Calibri" pitchFamily="34" charset="0"/>
                <a:ea typeface="Calibri" pitchFamily="34" charset="-122"/>
                <a:cs typeface="Calibri" pitchFamily="34" charset="-120"/>
              </a:rPr>
              <a:t>FUTURE — Nice-to-Have</a:t>
            </a:r>
            <a:endParaRPr lang="en-US" sz="1050" dirty="0"/>
          </a:p>
        </p:txBody>
      </p:sp>
      <p:sp>
        <p:nvSpPr>
          <p:cNvPr id="14" name="Text 12"/>
          <p:cNvSpPr/>
          <p:nvPr/>
        </p:nvSpPr>
        <p:spPr>
          <a:xfrm>
            <a:off x="621792" y="3721608"/>
            <a:ext cx="7955280" cy="877824"/>
          </a:xfrm>
          <a:prstGeom prst="rect">
            <a:avLst/>
          </a:prstGeom>
          <a:noFill/>
          <a:ln/>
        </p:spPr>
        <p:txBody>
          <a:bodyPr wrap="square" lIns="0" tIns="50800" rIns="0" bIns="0" rtlCol="0" anchor="t"/>
          <a:lstStyle/>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Darija (Moroccan Arabic) language support</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Email integrations — Outlook, Gmail</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Zoom / Teams / Google Meet recording imports</a:t>
            </a:r>
            <a:endParaRPr lang="en-US" sz="1100" dirty="0"/>
          </a:p>
          <a:p>
            <a:pPr marL="177800" indent="-177800">
              <a:spcAft>
                <a:spcPts val="400"/>
              </a:spcAft>
              <a:buSzPct val="100000"/>
              <a:buChar char="•"/>
            </a:pPr>
            <a:r>
              <a:rPr lang="en-US" sz="1100" dirty="0">
                <a:solidFill>
                  <a:srgbClr val="F0F6FC"/>
                </a:solidFill>
                <a:latin typeface="Calibri" pitchFamily="34" charset="0"/>
                <a:ea typeface="Calibri" pitchFamily="34" charset="-122"/>
                <a:cs typeface="Calibri" pitchFamily="34" charset="-120"/>
              </a:rPr>
              <a:t>Team collaboration features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buNone/>
            </a:pPr>
            <a:r>
              <a:rPr lang="en-US" sz="3400" b="1" dirty="0">
                <a:solidFill>
                  <a:srgbClr val="F0F6FC"/>
                </a:solidFill>
                <a:latin typeface="Georgia" pitchFamily="34" charset="0"/>
                <a:ea typeface="Georgia" pitchFamily="34" charset="-122"/>
                <a:cs typeface="Georgia" pitchFamily="34" charset="-120"/>
              </a:rPr>
              <a:t>Project Status Summary</a:t>
            </a:r>
            <a:endParaRPr lang="en-US" sz="3400" dirty="0"/>
          </a:p>
        </p:txBody>
      </p:sp>
      <p:sp>
        <p:nvSpPr>
          <p:cNvPr id="3" name="Shape 1"/>
          <p:cNvSpPr/>
          <p:nvPr/>
        </p:nvSpPr>
        <p:spPr>
          <a:xfrm>
            <a:off x="7798587" y="115393"/>
            <a:ext cx="1196602" cy="1146429"/>
          </a:xfrm>
          <a:prstGeom prst="rect">
            <a:avLst/>
          </a:prstGeom>
          <a:solidFill>
            <a:srgbClr val="161B22"/>
          </a:solidFill>
          <a:ln w="19050">
            <a:solidFill>
              <a:srgbClr val="7C3AED"/>
            </a:solidFill>
            <a:prstDash val="solid"/>
          </a:ln>
        </p:spPr>
        <p:txBody>
          <a:bodyPr/>
          <a:lstStyle/>
          <a:p>
            <a:endParaRPr lang="fr-FR" dirty="0"/>
          </a:p>
        </p:txBody>
      </p:sp>
      <p:sp>
        <p:nvSpPr>
          <p:cNvPr id="4" name="Text 2"/>
          <p:cNvSpPr/>
          <p:nvPr/>
        </p:nvSpPr>
        <p:spPr>
          <a:xfrm>
            <a:off x="7817557" y="192024"/>
            <a:ext cx="1281525" cy="914400"/>
          </a:xfrm>
          <a:prstGeom prst="rect">
            <a:avLst/>
          </a:prstGeom>
          <a:noFill/>
          <a:ln/>
        </p:spPr>
        <p:txBody>
          <a:bodyPr wrap="square" lIns="0" tIns="0" rIns="0" bIns="0" rtlCol="0" anchor="ctr"/>
          <a:lstStyle/>
          <a:p>
            <a:pPr marL="0" indent="0" algn="ctr">
              <a:buNone/>
            </a:pPr>
            <a:r>
              <a:rPr lang="en-US" sz="3200" b="1" dirty="0">
                <a:solidFill>
                  <a:srgbClr val="A78BFA"/>
                </a:solidFill>
                <a:latin typeface="Georgia" pitchFamily="34" charset="0"/>
                <a:ea typeface="Georgia" pitchFamily="34" charset="-122"/>
                <a:cs typeface="Georgia" pitchFamily="34" charset="-120"/>
              </a:rPr>
              <a:t>87%</a:t>
            </a:r>
            <a:endParaRPr lang="en-US" sz="3200" dirty="0"/>
          </a:p>
        </p:txBody>
      </p:sp>
      <p:sp>
        <p:nvSpPr>
          <p:cNvPr id="5" name="Text 3"/>
          <p:cNvSpPr/>
          <p:nvPr/>
        </p:nvSpPr>
        <p:spPr>
          <a:xfrm>
            <a:off x="7282189" y="1280160"/>
            <a:ext cx="2194560" cy="457200"/>
          </a:xfrm>
          <a:prstGeom prst="rect">
            <a:avLst/>
          </a:prstGeom>
          <a:noFill/>
          <a:ln/>
        </p:spPr>
        <p:txBody>
          <a:bodyPr wrap="square" lIns="0" tIns="0" rIns="0" bIns="0" rtlCol="0" anchor="ctr"/>
          <a:lstStyle/>
          <a:p>
            <a:pPr marL="0" indent="0" algn="ctr">
              <a:buNone/>
            </a:pPr>
            <a:r>
              <a:rPr lang="en-US" sz="1100" dirty="0">
                <a:solidFill>
                  <a:srgbClr val="8B949E"/>
                </a:solidFill>
                <a:latin typeface="Calibri" pitchFamily="34" charset="0"/>
                <a:ea typeface="Calibri" pitchFamily="34" charset="-122"/>
                <a:cs typeface="Calibri" pitchFamily="34" charset="-120"/>
              </a:rPr>
              <a:t>Overall</a:t>
            </a:r>
            <a:endParaRPr lang="en-US" sz="1100" dirty="0"/>
          </a:p>
          <a:p>
            <a:pPr marL="0" indent="0" algn="ctr">
              <a:buNone/>
            </a:pPr>
            <a:r>
              <a:rPr lang="en-US" sz="1100" dirty="0">
                <a:solidFill>
                  <a:srgbClr val="8B949E"/>
                </a:solidFill>
                <a:latin typeface="Calibri" pitchFamily="34" charset="0"/>
                <a:ea typeface="Calibri" pitchFamily="34" charset="-122"/>
                <a:cs typeface="Calibri" pitchFamily="34" charset="-120"/>
              </a:rPr>
              <a:t>Completion</a:t>
            </a:r>
            <a:endParaRPr lang="en-US" sz="1100" dirty="0"/>
          </a:p>
        </p:txBody>
      </p:sp>
      <p:sp>
        <p:nvSpPr>
          <p:cNvPr id="6" name="Text 4"/>
          <p:cNvSpPr/>
          <p:nvPr/>
        </p:nvSpPr>
        <p:spPr>
          <a:xfrm>
            <a:off x="457200" y="4416552"/>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Core Processing Pipeline</a:t>
            </a:r>
            <a:endParaRPr lang="en-US" sz="1100" dirty="0"/>
          </a:p>
        </p:txBody>
      </p:sp>
      <p:sp>
        <p:nvSpPr>
          <p:cNvPr id="8" name="Shape 6"/>
          <p:cNvSpPr/>
          <p:nvPr/>
        </p:nvSpPr>
        <p:spPr>
          <a:xfrm>
            <a:off x="2716024" y="1097280"/>
            <a:ext cx="3703320" cy="182880"/>
          </a:xfrm>
          <a:prstGeom prst="rect">
            <a:avLst/>
          </a:prstGeom>
          <a:solidFill>
            <a:srgbClr val="10B981"/>
          </a:solidFill>
          <a:ln w="12700">
            <a:solidFill>
              <a:srgbClr val="10B981"/>
            </a:solidFill>
            <a:prstDash val="solid"/>
          </a:ln>
        </p:spPr>
      </p:sp>
      <p:sp>
        <p:nvSpPr>
          <p:cNvPr id="9" name="Text 7"/>
          <p:cNvSpPr/>
          <p:nvPr/>
        </p:nvSpPr>
        <p:spPr>
          <a:xfrm>
            <a:off x="6492496" y="1042416"/>
            <a:ext cx="685800" cy="292608"/>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100%</a:t>
            </a:r>
            <a:endParaRPr lang="en-US" sz="1050" dirty="0"/>
          </a:p>
        </p:txBody>
      </p:sp>
      <p:sp>
        <p:nvSpPr>
          <p:cNvPr id="10" name="Text 8"/>
          <p:cNvSpPr/>
          <p:nvPr/>
        </p:nvSpPr>
        <p:spPr>
          <a:xfrm>
            <a:off x="457200" y="1043098"/>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Authentication &amp; Security</a:t>
            </a:r>
            <a:endParaRPr lang="en-US" sz="1100" dirty="0"/>
          </a:p>
        </p:txBody>
      </p:sp>
      <p:sp>
        <p:nvSpPr>
          <p:cNvPr id="12" name="Shape 10"/>
          <p:cNvSpPr/>
          <p:nvPr/>
        </p:nvSpPr>
        <p:spPr>
          <a:xfrm>
            <a:off x="2716024" y="1472184"/>
            <a:ext cx="3703320" cy="182880"/>
          </a:xfrm>
          <a:prstGeom prst="rect">
            <a:avLst/>
          </a:prstGeom>
          <a:solidFill>
            <a:srgbClr val="10B981"/>
          </a:solidFill>
          <a:ln w="12700">
            <a:solidFill>
              <a:srgbClr val="10B981"/>
            </a:solidFill>
            <a:prstDash val="solid"/>
          </a:ln>
        </p:spPr>
      </p:sp>
      <p:sp>
        <p:nvSpPr>
          <p:cNvPr id="13" name="Text 11"/>
          <p:cNvSpPr/>
          <p:nvPr/>
        </p:nvSpPr>
        <p:spPr>
          <a:xfrm>
            <a:off x="6492496" y="1417320"/>
            <a:ext cx="685800" cy="292608"/>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100%</a:t>
            </a:r>
            <a:endParaRPr lang="en-US" sz="1050" dirty="0"/>
          </a:p>
        </p:txBody>
      </p:sp>
      <p:sp>
        <p:nvSpPr>
          <p:cNvPr id="14" name="Text 12"/>
          <p:cNvSpPr/>
          <p:nvPr/>
        </p:nvSpPr>
        <p:spPr>
          <a:xfrm>
            <a:off x="457200" y="1418002"/>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Billing &amp; Usage Tracking</a:t>
            </a:r>
            <a:endParaRPr lang="en-US" sz="1100" dirty="0"/>
          </a:p>
        </p:txBody>
      </p:sp>
      <p:sp>
        <p:nvSpPr>
          <p:cNvPr id="16" name="Shape 14"/>
          <p:cNvSpPr/>
          <p:nvPr/>
        </p:nvSpPr>
        <p:spPr>
          <a:xfrm>
            <a:off x="2716024" y="1847088"/>
            <a:ext cx="3703320" cy="182880"/>
          </a:xfrm>
          <a:prstGeom prst="rect">
            <a:avLst/>
          </a:prstGeom>
          <a:solidFill>
            <a:srgbClr val="10B981"/>
          </a:solidFill>
          <a:ln w="12700">
            <a:solidFill>
              <a:srgbClr val="10B981"/>
            </a:solidFill>
            <a:prstDash val="solid"/>
          </a:ln>
        </p:spPr>
      </p:sp>
      <p:sp>
        <p:nvSpPr>
          <p:cNvPr id="17" name="Text 15"/>
          <p:cNvSpPr/>
          <p:nvPr/>
        </p:nvSpPr>
        <p:spPr>
          <a:xfrm>
            <a:off x="6492496" y="1792224"/>
            <a:ext cx="685800" cy="292608"/>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100%</a:t>
            </a:r>
            <a:endParaRPr lang="en-US" sz="1050" dirty="0"/>
          </a:p>
        </p:txBody>
      </p:sp>
      <p:sp>
        <p:nvSpPr>
          <p:cNvPr id="18" name="Text 16"/>
          <p:cNvSpPr/>
          <p:nvPr/>
        </p:nvSpPr>
        <p:spPr>
          <a:xfrm>
            <a:off x="457200" y="1792906"/>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Admin Dashboard</a:t>
            </a:r>
            <a:endParaRPr lang="en-US" sz="1100" dirty="0"/>
          </a:p>
        </p:txBody>
      </p:sp>
      <p:sp>
        <p:nvSpPr>
          <p:cNvPr id="20" name="Shape 18"/>
          <p:cNvSpPr/>
          <p:nvPr/>
        </p:nvSpPr>
        <p:spPr>
          <a:xfrm>
            <a:off x="2716024" y="2221992"/>
            <a:ext cx="3703320" cy="182880"/>
          </a:xfrm>
          <a:prstGeom prst="rect">
            <a:avLst/>
          </a:prstGeom>
          <a:solidFill>
            <a:srgbClr val="10B981"/>
          </a:solidFill>
          <a:ln w="12700">
            <a:solidFill>
              <a:srgbClr val="10B981"/>
            </a:solidFill>
            <a:prstDash val="solid"/>
          </a:ln>
        </p:spPr>
      </p:sp>
      <p:sp>
        <p:nvSpPr>
          <p:cNvPr id="21" name="Text 19"/>
          <p:cNvSpPr/>
          <p:nvPr/>
        </p:nvSpPr>
        <p:spPr>
          <a:xfrm>
            <a:off x="6492496" y="2167128"/>
            <a:ext cx="685800" cy="292608"/>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100%</a:t>
            </a:r>
            <a:endParaRPr lang="en-US" sz="1050" dirty="0"/>
          </a:p>
        </p:txBody>
      </p:sp>
      <p:sp>
        <p:nvSpPr>
          <p:cNvPr id="22" name="Text 20"/>
          <p:cNvSpPr/>
          <p:nvPr/>
        </p:nvSpPr>
        <p:spPr>
          <a:xfrm>
            <a:off x="457200" y="2167810"/>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Frontend UI</a:t>
            </a:r>
            <a:endParaRPr lang="en-US" sz="1100" dirty="0"/>
          </a:p>
        </p:txBody>
      </p:sp>
      <p:sp>
        <p:nvSpPr>
          <p:cNvPr id="23" name="Shape 21"/>
          <p:cNvSpPr/>
          <p:nvPr/>
        </p:nvSpPr>
        <p:spPr>
          <a:xfrm>
            <a:off x="2716024" y="2596896"/>
            <a:ext cx="3703320" cy="182880"/>
          </a:xfrm>
          <a:prstGeom prst="rect">
            <a:avLst/>
          </a:prstGeom>
          <a:solidFill>
            <a:srgbClr val="30363D"/>
          </a:solidFill>
          <a:ln w="12700">
            <a:solidFill>
              <a:srgbClr val="30363D"/>
            </a:solidFill>
            <a:prstDash val="solid"/>
          </a:ln>
        </p:spPr>
      </p:sp>
      <p:sp>
        <p:nvSpPr>
          <p:cNvPr id="24" name="Shape 22"/>
          <p:cNvSpPr/>
          <p:nvPr/>
        </p:nvSpPr>
        <p:spPr>
          <a:xfrm>
            <a:off x="2716024" y="2596896"/>
            <a:ext cx="3518154" cy="182880"/>
          </a:xfrm>
          <a:prstGeom prst="rect">
            <a:avLst/>
          </a:prstGeom>
          <a:solidFill>
            <a:srgbClr val="3B82F6"/>
          </a:solidFill>
          <a:ln w="12700">
            <a:solidFill>
              <a:srgbClr val="3B82F6"/>
            </a:solidFill>
            <a:prstDash val="solid"/>
          </a:ln>
        </p:spPr>
      </p:sp>
      <p:sp>
        <p:nvSpPr>
          <p:cNvPr id="25" name="Text 23"/>
          <p:cNvSpPr/>
          <p:nvPr/>
        </p:nvSpPr>
        <p:spPr>
          <a:xfrm>
            <a:off x="6492496" y="2542032"/>
            <a:ext cx="685800" cy="292608"/>
          </a:xfrm>
          <a:prstGeom prst="rect">
            <a:avLst/>
          </a:prstGeom>
          <a:noFill/>
          <a:ln/>
        </p:spPr>
        <p:txBody>
          <a:bodyPr wrap="square" lIns="0" tIns="0" rIns="0" bIns="0" rtlCol="0" anchor="ctr"/>
          <a:lstStyle/>
          <a:p>
            <a:pPr marL="0" indent="0">
              <a:buNone/>
            </a:pPr>
            <a:r>
              <a:rPr lang="en-US" sz="1050" dirty="0">
                <a:solidFill>
                  <a:srgbClr val="3B82F6"/>
                </a:solidFill>
                <a:latin typeface="Calibri" pitchFamily="34" charset="0"/>
                <a:ea typeface="Calibri" pitchFamily="34" charset="-122"/>
                <a:cs typeface="Calibri" pitchFamily="34" charset="-120"/>
              </a:rPr>
              <a:t>95%</a:t>
            </a:r>
            <a:endParaRPr lang="en-US" sz="1050" dirty="0"/>
          </a:p>
        </p:txBody>
      </p:sp>
      <p:sp>
        <p:nvSpPr>
          <p:cNvPr id="26" name="Text 24"/>
          <p:cNvSpPr/>
          <p:nvPr/>
        </p:nvSpPr>
        <p:spPr>
          <a:xfrm>
            <a:off x="457200" y="2542714"/>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Production Job Queue</a:t>
            </a:r>
            <a:endParaRPr lang="en-US" sz="1100" dirty="0"/>
          </a:p>
        </p:txBody>
      </p:sp>
      <p:sp>
        <p:nvSpPr>
          <p:cNvPr id="27" name="Shape 25"/>
          <p:cNvSpPr/>
          <p:nvPr/>
        </p:nvSpPr>
        <p:spPr>
          <a:xfrm>
            <a:off x="2716024" y="2971800"/>
            <a:ext cx="3703320" cy="182880"/>
          </a:xfrm>
          <a:prstGeom prst="rect">
            <a:avLst/>
          </a:prstGeom>
          <a:solidFill>
            <a:srgbClr val="30363D"/>
          </a:solidFill>
          <a:ln w="12700">
            <a:solidFill>
              <a:srgbClr val="30363D"/>
            </a:solidFill>
            <a:prstDash val="solid"/>
          </a:ln>
        </p:spPr>
      </p:sp>
      <p:sp>
        <p:nvSpPr>
          <p:cNvPr id="28" name="Text 26"/>
          <p:cNvSpPr/>
          <p:nvPr/>
        </p:nvSpPr>
        <p:spPr>
          <a:xfrm>
            <a:off x="6492496" y="2916936"/>
            <a:ext cx="685800" cy="292608"/>
          </a:xfrm>
          <a:prstGeom prst="rect">
            <a:avLst/>
          </a:prstGeom>
          <a:noFill/>
          <a:ln/>
        </p:spPr>
        <p:txBody>
          <a:bodyPr wrap="square" lIns="0" tIns="0" rIns="0" bIns="0" rtlCol="0" anchor="ctr"/>
          <a:lstStyle/>
          <a:p>
            <a:pPr marL="0" indent="0">
              <a:buNone/>
            </a:pPr>
            <a:r>
              <a:rPr lang="en-US" sz="1050" dirty="0">
                <a:solidFill>
                  <a:srgbClr val="484F58"/>
                </a:solidFill>
                <a:latin typeface="Calibri" pitchFamily="34" charset="0"/>
                <a:ea typeface="Calibri" pitchFamily="34" charset="-122"/>
                <a:cs typeface="Calibri" pitchFamily="34" charset="-120"/>
              </a:rPr>
              <a:t>Planned</a:t>
            </a:r>
            <a:endParaRPr lang="en-US" sz="1050" dirty="0"/>
          </a:p>
        </p:txBody>
      </p:sp>
      <p:sp>
        <p:nvSpPr>
          <p:cNvPr id="29" name="Text 27"/>
          <p:cNvSpPr/>
          <p:nvPr/>
        </p:nvSpPr>
        <p:spPr>
          <a:xfrm>
            <a:off x="457200" y="2917618"/>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PostgreSQL Migration</a:t>
            </a:r>
            <a:endParaRPr lang="en-US" sz="1100" dirty="0"/>
          </a:p>
        </p:txBody>
      </p:sp>
      <p:sp>
        <p:nvSpPr>
          <p:cNvPr id="30" name="Shape 28"/>
          <p:cNvSpPr/>
          <p:nvPr/>
        </p:nvSpPr>
        <p:spPr>
          <a:xfrm>
            <a:off x="2716024" y="3346704"/>
            <a:ext cx="3703320" cy="182880"/>
          </a:xfrm>
          <a:prstGeom prst="rect">
            <a:avLst/>
          </a:prstGeom>
          <a:solidFill>
            <a:srgbClr val="30363D"/>
          </a:solidFill>
          <a:ln w="12700">
            <a:solidFill>
              <a:srgbClr val="30363D"/>
            </a:solidFill>
            <a:prstDash val="solid"/>
          </a:ln>
        </p:spPr>
      </p:sp>
      <p:sp>
        <p:nvSpPr>
          <p:cNvPr id="31" name="Text 29"/>
          <p:cNvSpPr/>
          <p:nvPr/>
        </p:nvSpPr>
        <p:spPr>
          <a:xfrm>
            <a:off x="6492496" y="3291840"/>
            <a:ext cx="685800" cy="292608"/>
          </a:xfrm>
          <a:prstGeom prst="rect">
            <a:avLst/>
          </a:prstGeom>
          <a:noFill/>
          <a:ln/>
        </p:spPr>
        <p:txBody>
          <a:bodyPr wrap="square" lIns="0" tIns="0" rIns="0" bIns="0" rtlCol="0" anchor="ctr"/>
          <a:lstStyle/>
          <a:p>
            <a:pPr marL="0" indent="0">
              <a:buNone/>
            </a:pPr>
            <a:r>
              <a:rPr lang="en-US" sz="1050" dirty="0">
                <a:solidFill>
                  <a:srgbClr val="484F58"/>
                </a:solidFill>
                <a:latin typeface="Calibri" pitchFamily="34" charset="0"/>
                <a:ea typeface="Calibri" pitchFamily="34" charset="-122"/>
                <a:cs typeface="Calibri" pitchFamily="34" charset="-120"/>
              </a:rPr>
              <a:t>Planned</a:t>
            </a:r>
            <a:endParaRPr lang="en-US" sz="1050" dirty="0"/>
          </a:p>
        </p:txBody>
      </p:sp>
      <p:sp>
        <p:nvSpPr>
          <p:cNvPr id="32" name="Text 30"/>
          <p:cNvSpPr/>
          <p:nvPr/>
        </p:nvSpPr>
        <p:spPr>
          <a:xfrm>
            <a:off x="457200" y="3292522"/>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PDF Export</a:t>
            </a:r>
            <a:endParaRPr lang="en-US" sz="1100" dirty="0"/>
          </a:p>
        </p:txBody>
      </p:sp>
      <p:sp>
        <p:nvSpPr>
          <p:cNvPr id="33" name="Shape 31"/>
          <p:cNvSpPr/>
          <p:nvPr/>
        </p:nvSpPr>
        <p:spPr>
          <a:xfrm>
            <a:off x="2716024" y="3721608"/>
            <a:ext cx="3703320" cy="182880"/>
          </a:xfrm>
          <a:prstGeom prst="rect">
            <a:avLst/>
          </a:prstGeom>
          <a:solidFill>
            <a:srgbClr val="30363D"/>
          </a:solidFill>
          <a:ln w="12700">
            <a:solidFill>
              <a:srgbClr val="30363D"/>
            </a:solidFill>
            <a:prstDash val="solid"/>
          </a:ln>
        </p:spPr>
      </p:sp>
      <p:sp>
        <p:nvSpPr>
          <p:cNvPr id="34" name="Text 32"/>
          <p:cNvSpPr/>
          <p:nvPr/>
        </p:nvSpPr>
        <p:spPr>
          <a:xfrm>
            <a:off x="6492496" y="3666744"/>
            <a:ext cx="685800" cy="292608"/>
          </a:xfrm>
          <a:prstGeom prst="rect">
            <a:avLst/>
          </a:prstGeom>
          <a:noFill/>
          <a:ln/>
        </p:spPr>
        <p:txBody>
          <a:bodyPr wrap="square" lIns="0" tIns="0" rIns="0" bIns="0" rtlCol="0" anchor="ctr"/>
          <a:lstStyle/>
          <a:p>
            <a:pPr marL="0" indent="0">
              <a:buNone/>
            </a:pPr>
            <a:r>
              <a:rPr lang="en-US" sz="1050" dirty="0">
                <a:solidFill>
                  <a:srgbClr val="484F58"/>
                </a:solidFill>
                <a:latin typeface="Calibri" pitchFamily="34" charset="0"/>
                <a:ea typeface="Calibri" pitchFamily="34" charset="-122"/>
                <a:cs typeface="Calibri" pitchFamily="34" charset="-120"/>
              </a:rPr>
              <a:t>Planned</a:t>
            </a:r>
            <a:endParaRPr lang="en-US" sz="1050" dirty="0"/>
          </a:p>
        </p:txBody>
      </p:sp>
      <p:sp>
        <p:nvSpPr>
          <p:cNvPr id="35" name="Text 33"/>
          <p:cNvSpPr/>
          <p:nvPr/>
        </p:nvSpPr>
        <p:spPr>
          <a:xfrm>
            <a:off x="457200" y="3667426"/>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Speaker Diarization</a:t>
            </a:r>
            <a:endParaRPr lang="en-US" sz="1100" dirty="0"/>
          </a:p>
        </p:txBody>
      </p:sp>
      <p:sp>
        <p:nvSpPr>
          <p:cNvPr id="36" name="Shape 34"/>
          <p:cNvSpPr/>
          <p:nvPr/>
        </p:nvSpPr>
        <p:spPr>
          <a:xfrm>
            <a:off x="2716024" y="4096512"/>
            <a:ext cx="3703320" cy="182880"/>
          </a:xfrm>
          <a:prstGeom prst="rect">
            <a:avLst/>
          </a:prstGeom>
          <a:solidFill>
            <a:srgbClr val="30363D"/>
          </a:solidFill>
          <a:ln w="12700">
            <a:solidFill>
              <a:srgbClr val="30363D"/>
            </a:solidFill>
            <a:prstDash val="solid"/>
          </a:ln>
        </p:spPr>
      </p:sp>
      <p:sp>
        <p:nvSpPr>
          <p:cNvPr id="37" name="Text 35"/>
          <p:cNvSpPr/>
          <p:nvPr/>
        </p:nvSpPr>
        <p:spPr>
          <a:xfrm>
            <a:off x="6492496" y="4041648"/>
            <a:ext cx="685800" cy="292608"/>
          </a:xfrm>
          <a:prstGeom prst="rect">
            <a:avLst/>
          </a:prstGeom>
          <a:noFill/>
          <a:ln/>
        </p:spPr>
        <p:txBody>
          <a:bodyPr wrap="square" lIns="0" tIns="0" rIns="0" bIns="0" rtlCol="0" anchor="ctr"/>
          <a:lstStyle/>
          <a:p>
            <a:pPr marL="0" indent="0">
              <a:buNone/>
            </a:pPr>
            <a:r>
              <a:rPr lang="en-US" sz="1050" dirty="0">
                <a:solidFill>
                  <a:srgbClr val="484F58"/>
                </a:solidFill>
                <a:latin typeface="Calibri" pitchFamily="34" charset="0"/>
                <a:ea typeface="Calibri" pitchFamily="34" charset="-122"/>
                <a:cs typeface="Calibri" pitchFamily="34" charset="-120"/>
              </a:rPr>
              <a:t>Planned</a:t>
            </a:r>
            <a:endParaRPr lang="en-US" sz="1050" dirty="0"/>
          </a:p>
        </p:txBody>
      </p:sp>
      <p:sp>
        <p:nvSpPr>
          <p:cNvPr id="38" name="Text 36"/>
          <p:cNvSpPr/>
          <p:nvPr/>
        </p:nvSpPr>
        <p:spPr>
          <a:xfrm>
            <a:off x="457200" y="4042330"/>
            <a:ext cx="3246120" cy="292608"/>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Real-time Updates</a:t>
            </a:r>
            <a:endParaRPr lang="en-US" sz="1100" dirty="0"/>
          </a:p>
        </p:txBody>
      </p:sp>
      <p:sp>
        <p:nvSpPr>
          <p:cNvPr id="39" name="Shape 37"/>
          <p:cNvSpPr/>
          <p:nvPr/>
        </p:nvSpPr>
        <p:spPr>
          <a:xfrm>
            <a:off x="2716024" y="4471416"/>
            <a:ext cx="3703320" cy="182880"/>
          </a:xfrm>
          <a:prstGeom prst="rect">
            <a:avLst/>
          </a:prstGeom>
          <a:solidFill>
            <a:srgbClr val="30363D"/>
          </a:solidFill>
          <a:ln w="12700">
            <a:solidFill>
              <a:srgbClr val="30363D"/>
            </a:solidFill>
            <a:prstDash val="solid"/>
          </a:ln>
        </p:spPr>
      </p:sp>
      <p:sp>
        <p:nvSpPr>
          <p:cNvPr id="40" name="Text 38"/>
          <p:cNvSpPr/>
          <p:nvPr/>
        </p:nvSpPr>
        <p:spPr>
          <a:xfrm>
            <a:off x="6492496" y="4416552"/>
            <a:ext cx="685800" cy="292608"/>
          </a:xfrm>
          <a:prstGeom prst="rect">
            <a:avLst/>
          </a:prstGeom>
          <a:noFill/>
          <a:ln/>
        </p:spPr>
        <p:txBody>
          <a:bodyPr wrap="square" lIns="0" tIns="0" rIns="0" bIns="0" rtlCol="0" anchor="ctr"/>
          <a:lstStyle/>
          <a:p>
            <a:pPr marL="0" indent="0">
              <a:buNone/>
            </a:pPr>
            <a:r>
              <a:rPr lang="en-US" sz="1050" dirty="0">
                <a:solidFill>
                  <a:srgbClr val="484F58"/>
                </a:solidFill>
                <a:latin typeface="Calibri" pitchFamily="34" charset="0"/>
                <a:ea typeface="Calibri" pitchFamily="34" charset="-122"/>
                <a:cs typeface="Calibri" pitchFamily="34" charset="-120"/>
              </a:rPr>
              <a:t>Planned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858000" y="3200400"/>
            <a:ext cx="3200400" cy="3200400"/>
          </a:xfrm>
          <a:prstGeom prst="ellipse">
            <a:avLst/>
          </a:prstGeom>
          <a:solidFill>
            <a:srgbClr val="7C3AED">
              <a:alpha val="8000"/>
            </a:srgbClr>
          </a:solidFill>
          <a:ln w="12700">
            <a:solidFill>
              <a:srgbClr val="7C3AED"/>
            </a:solidFill>
            <a:prstDash val="solid"/>
          </a:ln>
        </p:spPr>
      </p:sp>
      <p:sp>
        <p:nvSpPr>
          <p:cNvPr id="3" name="Text 1"/>
          <p:cNvSpPr/>
          <p:nvPr/>
        </p:nvSpPr>
        <p:spPr>
          <a:xfrm>
            <a:off x="457200" y="228600"/>
            <a:ext cx="8229600" cy="621792"/>
          </a:xfrm>
          <a:prstGeom prst="rect">
            <a:avLst/>
          </a:prstGeom>
          <a:noFill/>
          <a:ln/>
        </p:spPr>
        <p:txBody>
          <a:bodyPr wrap="square" lIns="0" tIns="0" rIns="0" bIns="0" rtlCol="0" anchor="ctr"/>
          <a:lstStyle/>
          <a:p>
            <a:pPr marL="0" indent="0">
              <a:buNone/>
            </a:pPr>
            <a:r>
              <a:rPr lang="en-US" sz="3800" b="1" dirty="0">
                <a:solidFill>
                  <a:srgbClr val="F0F6FC"/>
                </a:solidFill>
                <a:latin typeface="Georgia" pitchFamily="34" charset="0"/>
                <a:ea typeface="Georgia" pitchFamily="34" charset="-122"/>
                <a:cs typeface="Georgia" pitchFamily="34" charset="-120"/>
              </a:rPr>
              <a:t>Conclusion</a:t>
            </a:r>
            <a:endParaRPr lang="en-US" sz="3800" dirty="0"/>
          </a:p>
        </p:txBody>
      </p:sp>
      <p:sp>
        <p:nvSpPr>
          <p:cNvPr id="4" name="Shape 2"/>
          <p:cNvSpPr/>
          <p:nvPr/>
        </p:nvSpPr>
        <p:spPr>
          <a:xfrm>
            <a:off x="457200" y="1005840"/>
            <a:ext cx="4023360" cy="3657600"/>
          </a:xfrm>
          <a:prstGeom prst="rect">
            <a:avLst/>
          </a:prstGeom>
          <a:solidFill>
            <a:srgbClr val="161B22"/>
          </a:solidFill>
          <a:ln w="9525">
            <a:solidFill>
              <a:srgbClr val="30363D"/>
            </a:solidFill>
            <a:prstDash val="solid"/>
          </a:ln>
        </p:spPr>
      </p:sp>
      <p:sp>
        <p:nvSpPr>
          <p:cNvPr id="5" name="Shape 3"/>
          <p:cNvSpPr/>
          <p:nvPr/>
        </p:nvSpPr>
        <p:spPr>
          <a:xfrm>
            <a:off x="457200" y="1005840"/>
            <a:ext cx="45720" cy="3657600"/>
          </a:xfrm>
          <a:prstGeom prst="rect">
            <a:avLst/>
          </a:prstGeom>
          <a:solidFill>
            <a:srgbClr val="10B981"/>
          </a:solidFill>
          <a:ln w="12700">
            <a:solidFill>
              <a:srgbClr val="10B981"/>
            </a:solidFill>
            <a:prstDash val="solid"/>
          </a:ln>
        </p:spPr>
      </p:sp>
      <p:sp>
        <p:nvSpPr>
          <p:cNvPr id="6" name="Text 4"/>
          <p:cNvSpPr/>
          <p:nvPr/>
        </p:nvSpPr>
        <p:spPr>
          <a:xfrm>
            <a:off x="621792" y="1078992"/>
            <a:ext cx="3749040" cy="292608"/>
          </a:xfrm>
          <a:prstGeom prst="rect">
            <a:avLst/>
          </a:prstGeom>
          <a:noFill/>
          <a:ln/>
        </p:spPr>
        <p:txBody>
          <a:bodyPr wrap="square" lIns="0" tIns="0" rIns="0" bIns="0" rtlCol="0" anchor="ctr"/>
          <a:lstStyle/>
          <a:p>
            <a:pPr marL="0" indent="0">
              <a:buNone/>
            </a:pPr>
            <a:r>
              <a:rPr lang="en-US" sz="1300" b="1" dirty="0">
                <a:solidFill>
                  <a:srgbClr val="6EE7B7"/>
                </a:solidFill>
                <a:latin typeface="Georgia" pitchFamily="34" charset="0"/>
                <a:ea typeface="Georgia" pitchFamily="34" charset="-122"/>
                <a:cs typeface="Georgia" pitchFamily="34" charset="-120"/>
              </a:rPr>
              <a:t>MeetingAI MVP — What We Have</a:t>
            </a:r>
            <a:endParaRPr lang="en-US" sz="1300" dirty="0"/>
          </a:p>
        </p:txBody>
      </p:sp>
      <p:sp>
        <p:nvSpPr>
          <p:cNvPr id="7" name="Shape 5"/>
          <p:cNvSpPr/>
          <p:nvPr/>
        </p:nvSpPr>
        <p:spPr>
          <a:xfrm>
            <a:off x="621792" y="1426464"/>
            <a:ext cx="3657600" cy="0"/>
          </a:xfrm>
          <a:prstGeom prst="line">
            <a:avLst/>
          </a:prstGeom>
          <a:noFill/>
          <a:ln w="9525">
            <a:solidFill>
              <a:srgbClr val="30363D"/>
            </a:solidFill>
            <a:prstDash val="solid"/>
          </a:ln>
        </p:spPr>
      </p:sp>
      <p:sp>
        <p:nvSpPr>
          <p:cNvPr id="8" name="Text 6"/>
          <p:cNvSpPr/>
          <p:nvPr/>
        </p:nvSpPr>
        <p:spPr>
          <a:xfrm>
            <a:off x="621792" y="1517904"/>
            <a:ext cx="3749040" cy="3017520"/>
          </a:xfrm>
          <a:prstGeom prst="rect">
            <a:avLst/>
          </a:prstGeom>
          <a:noFill/>
          <a:ln/>
        </p:spPr>
        <p:txBody>
          <a:bodyPr wrap="square" lIns="0" tIns="50800" rIns="0" bIns="0" rtlCol="0" anchor="t"/>
          <a:lstStyle/>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End-to-end AI pipeline: upload → transcribe → summarize</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Complete SaaS infrastructure (auth, billing, usage, admin)</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Security-first architecture with multiple protection layers</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Clean, modular codebase ready for team collaboration</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Multi-language support: French &amp; English</a:t>
            </a:r>
            <a:endParaRPr lang="en-US" sz="1250" dirty="0"/>
          </a:p>
          <a:p>
            <a:pPr marL="177800" indent="-177800">
              <a:spcAft>
                <a:spcPts val="700"/>
              </a:spcAft>
              <a:buSzPct val="100000"/>
              <a:buChar char="•"/>
            </a:pPr>
            <a:r>
              <a:rPr lang="en-US" sz="1250" dirty="0">
                <a:solidFill>
                  <a:srgbClr val="F0F6FC"/>
                </a:solidFill>
                <a:latin typeface="Calibri" pitchFamily="34" charset="0"/>
                <a:ea typeface="Calibri" pitchFamily="34" charset="-122"/>
                <a:cs typeface="Calibri" pitchFamily="34" charset="-120"/>
              </a:rPr>
              <a:t>Tested on real hardware up to 1-hour recordings</a:t>
            </a:r>
            <a:endParaRPr lang="en-US" sz="1250" dirty="0"/>
          </a:p>
        </p:txBody>
      </p:sp>
      <p:sp>
        <p:nvSpPr>
          <p:cNvPr id="9" name="Shape 7"/>
          <p:cNvSpPr/>
          <p:nvPr/>
        </p:nvSpPr>
        <p:spPr>
          <a:xfrm>
            <a:off x="4663440" y="1005840"/>
            <a:ext cx="4023360" cy="3657600"/>
          </a:xfrm>
          <a:prstGeom prst="rect">
            <a:avLst/>
          </a:prstGeom>
          <a:solidFill>
            <a:srgbClr val="161B22"/>
          </a:solidFill>
          <a:ln w="9525">
            <a:solidFill>
              <a:srgbClr val="30363D"/>
            </a:solidFill>
            <a:prstDash val="solid"/>
          </a:ln>
        </p:spPr>
      </p:sp>
      <p:sp>
        <p:nvSpPr>
          <p:cNvPr id="10" name="Shape 8"/>
          <p:cNvSpPr/>
          <p:nvPr/>
        </p:nvSpPr>
        <p:spPr>
          <a:xfrm>
            <a:off x="4663440" y="1005840"/>
            <a:ext cx="45720" cy="3657600"/>
          </a:xfrm>
          <a:prstGeom prst="rect">
            <a:avLst/>
          </a:prstGeom>
          <a:solidFill>
            <a:srgbClr val="7C3AED"/>
          </a:solidFill>
          <a:ln w="12700">
            <a:solidFill>
              <a:srgbClr val="7C3AED"/>
            </a:solidFill>
            <a:prstDash val="solid"/>
          </a:ln>
        </p:spPr>
      </p:sp>
      <p:sp>
        <p:nvSpPr>
          <p:cNvPr id="11" name="Text 9"/>
          <p:cNvSpPr/>
          <p:nvPr/>
        </p:nvSpPr>
        <p:spPr>
          <a:xfrm>
            <a:off x="4828032" y="1078992"/>
            <a:ext cx="3749040" cy="292608"/>
          </a:xfrm>
          <a:prstGeom prst="rect">
            <a:avLst/>
          </a:prstGeom>
          <a:noFill/>
          <a:ln/>
        </p:spPr>
        <p:txBody>
          <a:bodyPr wrap="square" lIns="0" tIns="0" rIns="0" bIns="0" rtlCol="0" anchor="ctr"/>
          <a:lstStyle/>
          <a:p>
            <a:pPr marL="0" indent="0">
              <a:buNone/>
            </a:pPr>
            <a:r>
              <a:rPr lang="en-US" sz="1300" b="1" dirty="0">
                <a:solidFill>
                  <a:srgbClr val="A78BFA"/>
                </a:solidFill>
                <a:latin typeface="Georgia" pitchFamily="34" charset="0"/>
                <a:ea typeface="Georgia" pitchFamily="34" charset="-122"/>
                <a:cs typeface="Georgia" pitchFamily="34" charset="-120"/>
              </a:rPr>
              <a:t>Next Steps</a:t>
            </a:r>
            <a:endParaRPr lang="en-US" sz="1300" dirty="0"/>
          </a:p>
        </p:txBody>
      </p:sp>
      <p:sp>
        <p:nvSpPr>
          <p:cNvPr id="12" name="Shape 10"/>
          <p:cNvSpPr/>
          <p:nvPr/>
        </p:nvSpPr>
        <p:spPr>
          <a:xfrm>
            <a:off x="4828032" y="1426464"/>
            <a:ext cx="3657600" cy="0"/>
          </a:xfrm>
          <a:prstGeom prst="line">
            <a:avLst/>
          </a:prstGeom>
          <a:noFill/>
          <a:ln w="9525">
            <a:solidFill>
              <a:srgbClr val="30363D"/>
            </a:solidFill>
            <a:prstDash val="solid"/>
          </a:ln>
        </p:spPr>
      </p:sp>
      <p:sp>
        <p:nvSpPr>
          <p:cNvPr id="13" name="Shape 11"/>
          <p:cNvSpPr/>
          <p:nvPr/>
        </p:nvSpPr>
        <p:spPr>
          <a:xfrm>
            <a:off x="4828032" y="1645920"/>
            <a:ext cx="310896" cy="310896"/>
          </a:xfrm>
          <a:prstGeom prst="ellipse">
            <a:avLst/>
          </a:prstGeom>
          <a:solidFill>
            <a:srgbClr val="7C3AED"/>
          </a:solidFill>
          <a:ln w="12700">
            <a:solidFill>
              <a:srgbClr val="7C3AED"/>
            </a:solidFill>
            <a:prstDash val="solid"/>
          </a:ln>
        </p:spPr>
      </p:sp>
      <p:sp>
        <p:nvSpPr>
          <p:cNvPr id="14" name="Text 12"/>
          <p:cNvSpPr/>
          <p:nvPr/>
        </p:nvSpPr>
        <p:spPr>
          <a:xfrm>
            <a:off x="4828032" y="1645920"/>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5212080" y="1572768"/>
            <a:ext cx="3337560" cy="45720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Migrate to PostgreSQL for production deployment</a:t>
            </a:r>
            <a:endParaRPr lang="en-US" sz="1250" dirty="0"/>
          </a:p>
        </p:txBody>
      </p:sp>
      <p:sp>
        <p:nvSpPr>
          <p:cNvPr id="16" name="Shape 14"/>
          <p:cNvSpPr/>
          <p:nvPr/>
        </p:nvSpPr>
        <p:spPr>
          <a:xfrm>
            <a:off x="4828032" y="2395728"/>
            <a:ext cx="310896" cy="310896"/>
          </a:xfrm>
          <a:prstGeom prst="ellipse">
            <a:avLst/>
          </a:prstGeom>
          <a:solidFill>
            <a:srgbClr val="7C3AED"/>
          </a:solidFill>
          <a:ln w="12700">
            <a:solidFill>
              <a:srgbClr val="7C3AED"/>
            </a:solidFill>
            <a:prstDash val="solid"/>
          </a:ln>
        </p:spPr>
      </p:sp>
      <p:sp>
        <p:nvSpPr>
          <p:cNvPr id="17" name="Text 15"/>
          <p:cNvSpPr/>
          <p:nvPr/>
        </p:nvSpPr>
        <p:spPr>
          <a:xfrm>
            <a:off x="4828032" y="2395728"/>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5212080" y="2322576"/>
            <a:ext cx="3337560" cy="45720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Implement Celery + Redis for reliable job processing</a:t>
            </a:r>
            <a:endParaRPr lang="en-US" sz="1250" dirty="0"/>
          </a:p>
        </p:txBody>
      </p:sp>
      <p:sp>
        <p:nvSpPr>
          <p:cNvPr id="19" name="Shape 17"/>
          <p:cNvSpPr/>
          <p:nvPr/>
        </p:nvSpPr>
        <p:spPr>
          <a:xfrm>
            <a:off x="4828032" y="3145536"/>
            <a:ext cx="310896" cy="310896"/>
          </a:xfrm>
          <a:prstGeom prst="ellipse">
            <a:avLst/>
          </a:prstGeom>
          <a:solidFill>
            <a:srgbClr val="7C3AED"/>
          </a:solidFill>
          <a:ln w="12700">
            <a:solidFill>
              <a:srgbClr val="7C3AED"/>
            </a:solidFill>
            <a:prstDash val="solid"/>
          </a:ln>
        </p:spPr>
      </p:sp>
      <p:sp>
        <p:nvSpPr>
          <p:cNvPr id="20" name="Text 18"/>
          <p:cNvSpPr/>
          <p:nvPr/>
        </p:nvSpPr>
        <p:spPr>
          <a:xfrm>
            <a:off x="4828032" y="3145536"/>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5212080" y="3072384"/>
            <a:ext cx="3337560" cy="45720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Add PDF export and email notifications</a:t>
            </a:r>
            <a:endParaRPr lang="en-US" sz="1250" dirty="0"/>
          </a:p>
        </p:txBody>
      </p:sp>
      <p:sp>
        <p:nvSpPr>
          <p:cNvPr id="22" name="Shape 20"/>
          <p:cNvSpPr/>
          <p:nvPr/>
        </p:nvSpPr>
        <p:spPr>
          <a:xfrm>
            <a:off x="4828032" y="3895344"/>
            <a:ext cx="310896" cy="310896"/>
          </a:xfrm>
          <a:prstGeom prst="ellipse">
            <a:avLst/>
          </a:prstGeom>
          <a:solidFill>
            <a:srgbClr val="7C3AED"/>
          </a:solidFill>
          <a:ln w="12700">
            <a:solidFill>
              <a:srgbClr val="7C3AED"/>
            </a:solidFill>
            <a:prstDash val="solid"/>
          </a:ln>
        </p:spPr>
      </p:sp>
      <p:sp>
        <p:nvSpPr>
          <p:cNvPr id="23" name="Text 21"/>
          <p:cNvSpPr/>
          <p:nvPr/>
        </p:nvSpPr>
        <p:spPr>
          <a:xfrm>
            <a:off x="4828032" y="3895344"/>
            <a:ext cx="310896" cy="310896"/>
          </a:xfrm>
          <a:prstGeom prst="rect">
            <a:avLst/>
          </a:prstGeom>
          <a:noFill/>
          <a:ln/>
        </p:spPr>
        <p:txBody>
          <a:bodyPr wrap="square" lIns="0" tIns="0" rIns="0" bIns="0" rtlCol="0" anchor="ctr"/>
          <a:lstStyle/>
          <a:p>
            <a:pPr marL="0" indent="0" algn="ctr">
              <a:buNone/>
            </a:pPr>
            <a:r>
              <a:rPr lang="en-US" sz="1100" b="1" dirty="0">
                <a:solidFill>
                  <a:srgbClr val="F0F6FC"/>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5212080" y="3822192"/>
            <a:ext cx="3337560" cy="457200"/>
          </a:xfrm>
          <a:prstGeom prst="rect">
            <a:avLst/>
          </a:prstGeom>
          <a:noFill/>
          <a:ln/>
        </p:spPr>
        <p:txBody>
          <a:bodyPr wrap="square" lIns="0" tIns="0" rIns="0" bIns="0" rtlCol="0" anchor="ctr"/>
          <a:lstStyle/>
          <a:p>
            <a:pPr marL="0" indent="0">
              <a:buNone/>
            </a:pPr>
            <a:r>
              <a:rPr lang="en-US" sz="1250" dirty="0">
                <a:solidFill>
                  <a:srgbClr val="F0F6FC"/>
                </a:solidFill>
                <a:latin typeface="Calibri" pitchFamily="34" charset="0"/>
                <a:ea typeface="Calibri" pitchFamily="34" charset="-122"/>
                <a:cs typeface="Calibri" pitchFamily="34" charset="-120"/>
              </a:rPr>
              <a:t>Deploy to cloud (Railway, Render, or AWS)</a:t>
            </a:r>
            <a:endParaRPr lang="en-US" sz="1250" dirty="0"/>
          </a:p>
        </p:txBody>
      </p:sp>
      <p:sp>
        <p:nvSpPr>
          <p:cNvPr id="25" name="Text 23"/>
          <p:cNvSpPr/>
          <p:nvPr/>
        </p:nvSpPr>
        <p:spPr>
          <a:xfrm>
            <a:off x="457200" y="4809744"/>
            <a:ext cx="8229600" cy="256032"/>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The core technology is proven and working. What remains is production hardening and feature expansion.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2574</Words>
  <Application>Microsoft Office PowerPoint</Application>
  <PresentationFormat>Affichage à l'écran (16:9)</PresentationFormat>
  <Paragraphs>277</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MeetingAI – Progress Presentation</dc:title>
  <dc:subject>PptxGenJS Presentation</dc:subject>
  <dc:creator>PptxGenJS</dc:creator>
  <cp:lastModifiedBy>SALAHEDDINE BENCHRAA</cp:lastModifiedBy>
  <cp:revision>3</cp:revision>
  <dcterms:created xsi:type="dcterms:W3CDTF">2026-05-10T22:23:42Z</dcterms:created>
  <dcterms:modified xsi:type="dcterms:W3CDTF">2026-05-11T10:05:15Z</dcterms:modified>
</cp:coreProperties>
</file>